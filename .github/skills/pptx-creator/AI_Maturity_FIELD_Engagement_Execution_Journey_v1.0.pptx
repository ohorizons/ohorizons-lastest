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297" r:id="rId5"/>
    <p:sldId id="298" r:id="rId6"/>
    <p:sldId id="299" r:id="rId7"/>
    <p:sldId id="258" r:id="rId8"/>
    <p:sldId id="300" r:id="rId9"/>
    <p:sldId id="301" r:id="rId10"/>
    <p:sldId id="283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261" r:id="rId19"/>
    <p:sldId id="331" r:id="rId20"/>
    <p:sldId id="310" r:id="rId21"/>
    <p:sldId id="264" r:id="rId22"/>
    <p:sldId id="311" r:id="rId23"/>
    <p:sldId id="312" r:id="rId24"/>
    <p:sldId id="267" r:id="rId25"/>
    <p:sldId id="313" r:id="rId26"/>
    <p:sldId id="314" r:id="rId27"/>
    <p:sldId id="315" r:id="rId28"/>
    <p:sldId id="316" r:id="rId29"/>
    <p:sldId id="317" r:id="rId30"/>
    <p:sldId id="318" r:id="rId31"/>
    <p:sldId id="274" r:id="rId32"/>
    <p:sldId id="319" r:id="rId33"/>
    <p:sldId id="276" r:id="rId34"/>
    <p:sldId id="320" r:id="rId35"/>
    <p:sldId id="321" r:id="rId36"/>
    <p:sldId id="279" r:id="rId37"/>
    <p:sldId id="322" r:id="rId38"/>
    <p:sldId id="329" r:id="rId39"/>
    <p:sldId id="282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3438"/>
    <a:srgbClr val="A80000"/>
    <a:srgbClr val="D83B01"/>
    <a:srgbClr val="7719AA"/>
    <a:srgbClr val="107C10"/>
    <a:srgbClr val="0078D4"/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0EEFBE-40A3-F647-9205-58978E4885CF}" v="67" dt="2026-02-24T17:49:10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9"/>
    <p:restoredTop sz="94647"/>
  </p:normalViewPr>
  <p:slideViewPr>
    <p:cSldViewPr snapToGrid="0">
      <p:cViewPr varScale="1">
        <p:scale>
          <a:sx n="112" d="100"/>
          <a:sy n="112" d="100"/>
        </p:scale>
        <p:origin x="224" y="10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08F6D-71D5-4346-B36A-5B2E1109E9D2}" type="datetimeFigureOut">
              <a:rPr lang="en-BR" smtClean="0"/>
              <a:t>24/02/26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3A3E2-92DD-5F48-B73E-2A0CFC13498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5662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3A3E2-92DD-5F48-B73E-2A0CFC13498D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92756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3A3E2-92DD-5F48-B73E-2A0CFC13498D}" type="slidenum">
              <a:rPr lang="en-BR" smtClean="0"/>
              <a:t>16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3525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asilva@microsoft.com" TargetMode="External"/><Relationship Id="rId2" Type="http://schemas.openxmlformats.org/officeDocument/2006/relationships/hyperlink" Target="mailto:meramo@microsof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mailto:paulasilva@microsoft.com" TargetMode="External"/><Relationship Id="rId2" Type="http://schemas.openxmlformats.org/officeDocument/2006/relationships/hyperlink" Target="mailto:meramo@microsof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Engagement &amp; Execution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1FF"/>
                </a:solidFill>
                <a:latin typeface="Segoe UI"/>
              </a:defRPr>
            </a:pPr>
            <a:r>
              <a:rPr b="1">
                <a:solidFill>
                  <a:schemeClr val="bg1"/>
                </a:solidFill>
              </a:rPr>
              <a:t>Internal Guide </a:t>
            </a:r>
            <a:r>
              <a:t>| How We Engage, Assess, Deliver &amp;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33424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Segoe UI"/>
              </a:defRPr>
            </a:pPr>
            <a:r>
              <a:rPr b="1"/>
              <a:t>A step-by-step guide for ATU, STU,</a:t>
            </a:r>
            <a:r>
              <a:rPr lang="en-US" b="1"/>
              <a:t> CSU</a:t>
            </a:r>
            <a:r>
              <a:rPr b="1"/>
              <a:t> and Partners to understand the complete</a:t>
            </a:r>
            <a:r>
              <a:rPr lang="en-US" b="1"/>
              <a:t> journey</a:t>
            </a:r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731520" y="38449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Segoe UI"/>
              </a:defRPr>
            </a:pPr>
            <a:r>
              <a:t>AI Maturity Assessment and Transformation Delivery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7858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  <a:latin typeface="Segoe UI"/>
              </a:defRPr>
            </a:pPr>
            <a:r>
              <a:rPr lang="en-US" b="1"/>
              <a:t>Americas</a:t>
            </a:r>
            <a:r>
              <a:rPr b="1"/>
              <a:t> Software GBB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Melissa Durbin 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</a:rPr>
              <a:t>|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meramo@microsoft.com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Paula Silva |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paulasilva@microsoft.com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18744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t>February 2026 | v1.0</a:t>
            </a:r>
          </a:p>
        </p:txBody>
      </p:sp>
      <p:pic>
        <p:nvPicPr>
          <p:cNvPr id="11" name="Picture 10" descr="logo-msft-github-white.png">
            <a:extLst>
              <a:ext uri="{FF2B5EF4-FFF2-40B4-BE49-F238E27FC236}">
                <a16:creationId xmlns:a16="http://schemas.microsoft.com/office/drawing/2014/main" id="{04B22915-753C-48F4-77E6-3986A8698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173A023-3D69-1937-54CD-171CBEE0CAE7}"/>
              </a:ext>
            </a:extLst>
          </p:cNvPr>
          <p:cNvGrpSpPr/>
          <p:nvPr/>
        </p:nvGrpSpPr>
        <p:grpSpPr>
          <a:xfrm>
            <a:off x="0" y="6680200"/>
            <a:ext cx="12192000" cy="177800"/>
            <a:chOff x="0" y="6680200"/>
            <a:chExt cx="12192000" cy="177800"/>
          </a:xfrm>
        </p:grpSpPr>
        <p:sp>
          <p:nvSpPr>
            <p:cNvPr id="13" name="BottomBar1">
              <a:extLst>
                <a:ext uri="{FF2B5EF4-FFF2-40B4-BE49-F238E27FC236}">
                  <a16:creationId xmlns:a16="http://schemas.microsoft.com/office/drawing/2014/main" id="{FB19D4F1-6BAC-C41C-2E08-D16AE11B407C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BottomBar2">
              <a:extLst>
                <a:ext uri="{FF2B5EF4-FFF2-40B4-BE49-F238E27FC236}">
                  <a16:creationId xmlns:a16="http://schemas.microsoft.com/office/drawing/2014/main" id="{184502F8-78D3-F8CA-8C7F-A05D9E0C0FB7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BottomBar3">
              <a:extLst>
                <a:ext uri="{FF2B5EF4-FFF2-40B4-BE49-F238E27FC236}">
                  <a16:creationId xmlns:a16="http://schemas.microsoft.com/office/drawing/2014/main" id="{2D768303-40E9-D27C-97C3-FFD8077B8161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BottomBar4">
              <a:extLst>
                <a:ext uri="{FF2B5EF4-FFF2-40B4-BE49-F238E27FC236}">
                  <a16:creationId xmlns:a16="http://schemas.microsoft.com/office/drawing/2014/main" id="{333C82BE-E511-E252-A3D6-AD812D5C793B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BottomBar5">
              <a:extLst>
                <a:ext uri="{FF2B5EF4-FFF2-40B4-BE49-F238E27FC236}">
                  <a16:creationId xmlns:a16="http://schemas.microsoft.com/office/drawing/2014/main" id="{FEE5A0CD-29A0-1FFE-0237-F990D11E984B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099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 txBox="1"/>
          <p:nvPr/>
        </p:nvSpPr>
        <p:spPr>
          <a:xfrm>
            <a:off x="609600" y="228600"/>
            <a:ext cx="109728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800" b="1">
                <a:solidFill>
                  <a:srgbClr val="0078D4"/>
                </a:solidFill>
                <a:latin typeface="Segoe UI"/>
              </a:rPr>
              <a:t>Bill of Materials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609600" y="716280"/>
            <a:ext cx="10972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Key resources, tools, and deliverables for the AI Maturity engagement</a:t>
            </a:r>
          </a:p>
        </p:txBody>
      </p:sp>
      <p:sp>
        <p:nvSpPr>
          <p:cNvPr id="302" name="AccentLine"/>
          <p:cNvSpPr/>
          <p:nvPr/>
        </p:nvSpPr>
        <p:spPr>
          <a:xfrm>
            <a:off x="609600" y="1183640"/>
            <a:ext cx="762000" cy="3810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HeaderBar"/>
          <p:cNvSpPr/>
          <p:nvPr/>
        </p:nvSpPr>
        <p:spPr>
          <a:xfrm>
            <a:off x="609600" y="1285240"/>
            <a:ext cx="10972800" cy="330200"/>
          </a:xfrm>
          <a:prstGeom prst="rect">
            <a:avLst/>
          </a:prstGeom>
          <a:solidFill>
            <a:srgbClr val="96C8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HdrName"/>
          <p:cNvSpPr txBox="1"/>
          <p:nvPr/>
        </p:nvSpPr>
        <p:spPr>
          <a:xfrm>
            <a:off x="736600" y="1285240"/>
            <a:ext cx="3175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Segoe UI"/>
              </a:rPr>
              <a:t>Material / Resource</a:t>
            </a:r>
          </a:p>
        </p:txBody>
      </p:sp>
      <p:sp>
        <p:nvSpPr>
          <p:cNvPr id="305" name="HdrDesc"/>
          <p:cNvSpPr txBox="1"/>
          <p:nvPr/>
        </p:nvSpPr>
        <p:spPr>
          <a:xfrm>
            <a:off x="4038600" y="1285240"/>
            <a:ext cx="546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Segoe UI"/>
              </a:rPr>
              <a:t>Description</a:t>
            </a:r>
          </a:p>
        </p:txBody>
      </p:sp>
      <p:sp>
        <p:nvSpPr>
          <p:cNvPr id="306" name="HdrType"/>
          <p:cNvSpPr txBox="1"/>
          <p:nvPr/>
        </p:nvSpPr>
        <p:spPr>
          <a:xfrm>
            <a:off x="9753600" y="1285240"/>
            <a:ext cx="1651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400" b="1">
                <a:solidFill>
                  <a:srgbClr val="1A1A1A"/>
                </a:solidFill>
                <a:latin typeface="Segoe UI"/>
              </a:rPr>
              <a:t>Type</a:t>
            </a:r>
          </a:p>
        </p:txBody>
      </p:sp>
      <p:sp>
        <p:nvSpPr>
          <p:cNvPr id="307" name="Row0BG"/>
          <p:cNvSpPr/>
          <p:nvPr/>
        </p:nvSpPr>
        <p:spPr>
          <a:xfrm>
            <a:off x="609600" y="1628140"/>
            <a:ext cx="10972800" cy="36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Name0"/>
          <p:cNvSpPr txBox="1"/>
          <p:nvPr/>
        </p:nvSpPr>
        <p:spPr>
          <a:xfrm>
            <a:off x="736600" y="16281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AI Maturity Assessment Tool</a:t>
            </a:r>
          </a:p>
        </p:txBody>
      </p:sp>
      <p:sp>
        <p:nvSpPr>
          <p:cNvPr id="309" name="Desc0"/>
          <p:cNvSpPr txBox="1"/>
          <p:nvPr/>
        </p:nvSpPr>
        <p:spPr>
          <a:xfrm>
            <a:off x="4038600" y="16281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Interactive questionnaire covering 28 capabilities across 3 pillars</a:t>
            </a:r>
          </a:p>
        </p:txBody>
      </p:sp>
      <p:sp>
        <p:nvSpPr>
          <p:cNvPr id="310" name="Badge0"/>
          <p:cNvSpPr/>
          <p:nvPr/>
        </p:nvSpPr>
        <p:spPr>
          <a:xfrm>
            <a:off x="10007600" y="16979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Tool</a:t>
            </a:r>
          </a:p>
        </p:txBody>
      </p:sp>
      <p:sp>
        <p:nvSpPr>
          <p:cNvPr id="311" name="Row1BG"/>
          <p:cNvSpPr/>
          <p:nvPr/>
        </p:nvSpPr>
        <p:spPr>
          <a:xfrm>
            <a:off x="609600" y="1996440"/>
            <a:ext cx="109728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Name1"/>
          <p:cNvSpPr txBox="1"/>
          <p:nvPr/>
        </p:nvSpPr>
        <p:spPr>
          <a:xfrm>
            <a:off x="736600" y="19964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Maturity Scoring Framework</a:t>
            </a:r>
          </a:p>
        </p:txBody>
      </p:sp>
      <p:sp>
        <p:nvSpPr>
          <p:cNvPr id="313" name="Desc1"/>
          <p:cNvSpPr txBox="1"/>
          <p:nvPr/>
        </p:nvSpPr>
        <p:spPr>
          <a:xfrm>
            <a:off x="4038600" y="19964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5-level scoring rubric (Ad Hoc to Optimized) with clear criteria</a:t>
            </a:r>
          </a:p>
        </p:txBody>
      </p:sp>
      <p:sp>
        <p:nvSpPr>
          <p:cNvPr id="314" name="Badge1"/>
          <p:cNvSpPr/>
          <p:nvPr/>
        </p:nvSpPr>
        <p:spPr>
          <a:xfrm>
            <a:off x="10007600" y="20662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Framework</a:t>
            </a:r>
          </a:p>
        </p:txBody>
      </p:sp>
      <p:sp>
        <p:nvSpPr>
          <p:cNvPr id="315" name="Row2BG"/>
          <p:cNvSpPr/>
          <p:nvPr/>
        </p:nvSpPr>
        <p:spPr>
          <a:xfrm>
            <a:off x="609600" y="2364740"/>
            <a:ext cx="10972800" cy="36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Name2"/>
          <p:cNvSpPr txBox="1"/>
          <p:nvPr/>
        </p:nvSpPr>
        <p:spPr>
          <a:xfrm>
            <a:off x="736600" y="23647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Current State Report</a:t>
            </a:r>
          </a:p>
        </p:txBody>
      </p:sp>
      <p:sp>
        <p:nvSpPr>
          <p:cNvPr id="317" name="Desc2"/>
          <p:cNvSpPr txBox="1"/>
          <p:nvPr/>
        </p:nvSpPr>
        <p:spPr>
          <a:xfrm>
            <a:off x="4038600" y="23647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Baseline assessment output showing maturity scores per capability</a:t>
            </a:r>
          </a:p>
        </p:txBody>
      </p:sp>
      <p:sp>
        <p:nvSpPr>
          <p:cNvPr id="318" name="Badge2"/>
          <p:cNvSpPr/>
          <p:nvPr/>
        </p:nvSpPr>
        <p:spPr>
          <a:xfrm>
            <a:off x="10007600" y="24345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Deliverable</a:t>
            </a:r>
          </a:p>
        </p:txBody>
      </p:sp>
      <p:sp>
        <p:nvSpPr>
          <p:cNvPr id="319" name="Row3BG"/>
          <p:cNvSpPr/>
          <p:nvPr/>
        </p:nvSpPr>
        <p:spPr>
          <a:xfrm>
            <a:off x="609600" y="2733040"/>
            <a:ext cx="109728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0" name="Name3"/>
          <p:cNvSpPr txBox="1"/>
          <p:nvPr/>
        </p:nvSpPr>
        <p:spPr>
          <a:xfrm>
            <a:off x="736600" y="27330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Gap Analysis Template</a:t>
            </a:r>
          </a:p>
        </p:txBody>
      </p:sp>
      <p:sp>
        <p:nvSpPr>
          <p:cNvPr id="321" name="Desc3"/>
          <p:cNvSpPr txBox="1"/>
          <p:nvPr/>
        </p:nvSpPr>
        <p:spPr>
          <a:xfrm>
            <a:off x="4038600" y="27330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Identifies gaps between current and target maturity levels</a:t>
            </a:r>
          </a:p>
        </p:txBody>
      </p:sp>
      <p:sp>
        <p:nvSpPr>
          <p:cNvPr id="322" name="Badge3"/>
          <p:cNvSpPr/>
          <p:nvPr/>
        </p:nvSpPr>
        <p:spPr>
          <a:xfrm>
            <a:off x="10007600" y="28028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D83B0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Template</a:t>
            </a:r>
          </a:p>
        </p:txBody>
      </p:sp>
      <p:sp>
        <p:nvSpPr>
          <p:cNvPr id="323" name="Row4BG"/>
          <p:cNvSpPr/>
          <p:nvPr/>
        </p:nvSpPr>
        <p:spPr>
          <a:xfrm>
            <a:off x="609600" y="3101340"/>
            <a:ext cx="10972800" cy="36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4" name="Name4"/>
          <p:cNvSpPr txBox="1"/>
          <p:nvPr/>
        </p:nvSpPr>
        <p:spPr>
          <a:xfrm>
            <a:off x="736600" y="31013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Roadmap Builder</a:t>
            </a:r>
          </a:p>
        </p:txBody>
      </p:sp>
      <p:sp>
        <p:nvSpPr>
          <p:cNvPr id="325" name="Desc4"/>
          <p:cNvSpPr txBox="1"/>
          <p:nvPr/>
        </p:nvSpPr>
        <p:spPr>
          <a:xfrm>
            <a:off x="4038600" y="31013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Prioritized action plan with phased recommendations</a:t>
            </a:r>
          </a:p>
        </p:txBody>
      </p:sp>
      <p:sp>
        <p:nvSpPr>
          <p:cNvPr id="326" name="Badge4"/>
          <p:cNvSpPr/>
          <p:nvPr/>
        </p:nvSpPr>
        <p:spPr>
          <a:xfrm>
            <a:off x="10007600" y="31711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Tool</a:t>
            </a:r>
          </a:p>
        </p:txBody>
      </p:sp>
      <p:sp>
        <p:nvSpPr>
          <p:cNvPr id="327" name="Row5BG"/>
          <p:cNvSpPr/>
          <p:nvPr/>
        </p:nvSpPr>
        <p:spPr>
          <a:xfrm>
            <a:off x="609600" y="3469640"/>
            <a:ext cx="109728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8" name="Name5"/>
          <p:cNvSpPr txBox="1"/>
          <p:nvPr/>
        </p:nvSpPr>
        <p:spPr>
          <a:xfrm>
            <a:off x="736600" y="34696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Executive Summary Deck</a:t>
            </a:r>
          </a:p>
        </p:txBody>
      </p:sp>
      <p:sp>
        <p:nvSpPr>
          <p:cNvPr id="329" name="Desc5"/>
          <p:cNvSpPr txBox="1"/>
          <p:nvPr/>
        </p:nvSpPr>
        <p:spPr>
          <a:xfrm>
            <a:off x="4038600" y="34696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Leadership-ready presentation of findings and recommendations</a:t>
            </a:r>
          </a:p>
        </p:txBody>
      </p:sp>
      <p:sp>
        <p:nvSpPr>
          <p:cNvPr id="330" name="Badge5"/>
          <p:cNvSpPr/>
          <p:nvPr/>
        </p:nvSpPr>
        <p:spPr>
          <a:xfrm>
            <a:off x="10007600" y="35394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Deliverable</a:t>
            </a:r>
          </a:p>
        </p:txBody>
      </p:sp>
      <p:sp>
        <p:nvSpPr>
          <p:cNvPr id="331" name="Row6BG"/>
          <p:cNvSpPr/>
          <p:nvPr/>
        </p:nvSpPr>
        <p:spPr>
          <a:xfrm>
            <a:off x="609600" y="3837940"/>
            <a:ext cx="10972800" cy="36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2" name="Name6"/>
          <p:cNvSpPr txBox="1"/>
          <p:nvPr/>
        </p:nvSpPr>
        <p:spPr>
          <a:xfrm>
            <a:off x="736600" y="38379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Workshop Facilitation Guide</a:t>
            </a:r>
          </a:p>
        </p:txBody>
      </p:sp>
      <p:sp>
        <p:nvSpPr>
          <p:cNvPr id="333" name="Desc6"/>
          <p:cNvSpPr txBox="1"/>
          <p:nvPr/>
        </p:nvSpPr>
        <p:spPr>
          <a:xfrm>
            <a:off x="4038600" y="38379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Step-by-step guide for running AI maturity workshops</a:t>
            </a:r>
          </a:p>
        </p:txBody>
      </p:sp>
      <p:sp>
        <p:nvSpPr>
          <p:cNvPr id="334" name="Badge6"/>
          <p:cNvSpPr/>
          <p:nvPr/>
        </p:nvSpPr>
        <p:spPr>
          <a:xfrm>
            <a:off x="10007600" y="39077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Guide</a:t>
            </a:r>
          </a:p>
        </p:txBody>
      </p:sp>
      <p:sp>
        <p:nvSpPr>
          <p:cNvPr id="335" name="Row7BG"/>
          <p:cNvSpPr/>
          <p:nvPr/>
        </p:nvSpPr>
        <p:spPr>
          <a:xfrm>
            <a:off x="609600" y="4206240"/>
            <a:ext cx="109728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6" name="Name7"/>
          <p:cNvSpPr txBox="1"/>
          <p:nvPr/>
        </p:nvSpPr>
        <p:spPr>
          <a:xfrm>
            <a:off x="736600" y="42062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Best Practices Playbook</a:t>
            </a:r>
          </a:p>
        </p:txBody>
      </p:sp>
      <p:sp>
        <p:nvSpPr>
          <p:cNvPr id="337" name="Desc7"/>
          <p:cNvSpPr txBox="1"/>
          <p:nvPr/>
        </p:nvSpPr>
        <p:spPr>
          <a:xfrm>
            <a:off x="4038600" y="42062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Curated practices for each capability area and maturity level</a:t>
            </a:r>
          </a:p>
        </p:txBody>
      </p:sp>
      <p:sp>
        <p:nvSpPr>
          <p:cNvPr id="338" name="Badge7"/>
          <p:cNvSpPr/>
          <p:nvPr/>
        </p:nvSpPr>
        <p:spPr>
          <a:xfrm>
            <a:off x="10007600" y="42760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Reference</a:t>
            </a:r>
          </a:p>
        </p:txBody>
      </p:sp>
      <p:sp>
        <p:nvSpPr>
          <p:cNvPr id="339" name="Row8BG"/>
          <p:cNvSpPr/>
          <p:nvPr/>
        </p:nvSpPr>
        <p:spPr>
          <a:xfrm>
            <a:off x="609600" y="4574540"/>
            <a:ext cx="10972800" cy="36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0" name="Name8"/>
          <p:cNvSpPr txBox="1"/>
          <p:nvPr/>
        </p:nvSpPr>
        <p:spPr>
          <a:xfrm>
            <a:off x="736600" y="45745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ROI Calculator</a:t>
            </a:r>
          </a:p>
        </p:txBody>
      </p:sp>
      <p:sp>
        <p:nvSpPr>
          <p:cNvPr id="341" name="Desc8"/>
          <p:cNvSpPr txBox="1"/>
          <p:nvPr/>
        </p:nvSpPr>
        <p:spPr>
          <a:xfrm>
            <a:off x="4038600" y="45745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Estimates value and impact of recommended AI investments</a:t>
            </a:r>
          </a:p>
        </p:txBody>
      </p:sp>
      <p:sp>
        <p:nvSpPr>
          <p:cNvPr id="342" name="Badge8"/>
          <p:cNvSpPr/>
          <p:nvPr/>
        </p:nvSpPr>
        <p:spPr>
          <a:xfrm>
            <a:off x="10007600" y="46443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Tool</a:t>
            </a:r>
          </a:p>
        </p:txBody>
      </p:sp>
      <p:sp>
        <p:nvSpPr>
          <p:cNvPr id="343" name="Row9BG"/>
          <p:cNvSpPr/>
          <p:nvPr/>
        </p:nvSpPr>
        <p:spPr>
          <a:xfrm>
            <a:off x="609600" y="4942840"/>
            <a:ext cx="109728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4" name="Name9"/>
          <p:cNvSpPr txBox="1"/>
          <p:nvPr/>
        </p:nvSpPr>
        <p:spPr>
          <a:xfrm>
            <a:off x="736600" y="49428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Engagement Timeline</a:t>
            </a:r>
          </a:p>
        </p:txBody>
      </p:sp>
      <p:sp>
        <p:nvSpPr>
          <p:cNvPr id="345" name="Desc9"/>
          <p:cNvSpPr txBox="1"/>
          <p:nvPr/>
        </p:nvSpPr>
        <p:spPr>
          <a:xfrm>
            <a:off x="4038600" y="49428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Standard 4–6-week engagement schedule with milestones</a:t>
            </a:r>
          </a:p>
        </p:txBody>
      </p:sp>
      <p:sp>
        <p:nvSpPr>
          <p:cNvPr id="346" name="Badge9"/>
          <p:cNvSpPr/>
          <p:nvPr/>
        </p:nvSpPr>
        <p:spPr>
          <a:xfrm>
            <a:off x="10007600" y="50126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D83B0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Template</a:t>
            </a:r>
          </a:p>
        </p:txBody>
      </p:sp>
      <p:sp>
        <p:nvSpPr>
          <p:cNvPr id="347" name="Row10BG"/>
          <p:cNvSpPr/>
          <p:nvPr/>
        </p:nvSpPr>
        <p:spPr>
          <a:xfrm>
            <a:off x="609600" y="5311140"/>
            <a:ext cx="10972800" cy="368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8" name="Name10"/>
          <p:cNvSpPr txBox="1"/>
          <p:nvPr/>
        </p:nvSpPr>
        <p:spPr>
          <a:xfrm>
            <a:off x="736600" y="53111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Customer Interview Guide</a:t>
            </a:r>
          </a:p>
        </p:txBody>
      </p:sp>
      <p:sp>
        <p:nvSpPr>
          <p:cNvPr id="349" name="Desc10"/>
          <p:cNvSpPr txBox="1"/>
          <p:nvPr/>
        </p:nvSpPr>
        <p:spPr>
          <a:xfrm>
            <a:off x="4038600" y="53111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Structured questions for stakeholder discovery sessions</a:t>
            </a:r>
          </a:p>
        </p:txBody>
      </p:sp>
      <p:sp>
        <p:nvSpPr>
          <p:cNvPr id="350" name="Badge10"/>
          <p:cNvSpPr/>
          <p:nvPr/>
        </p:nvSpPr>
        <p:spPr>
          <a:xfrm>
            <a:off x="10007600" y="53809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Guide</a:t>
            </a:r>
          </a:p>
        </p:txBody>
      </p:sp>
      <p:sp>
        <p:nvSpPr>
          <p:cNvPr id="351" name="Row11BG"/>
          <p:cNvSpPr/>
          <p:nvPr/>
        </p:nvSpPr>
        <p:spPr>
          <a:xfrm>
            <a:off x="609600" y="5679440"/>
            <a:ext cx="109728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2" name="Name11"/>
          <p:cNvSpPr txBox="1"/>
          <p:nvPr/>
        </p:nvSpPr>
        <p:spPr>
          <a:xfrm>
            <a:off x="736600" y="5679440"/>
            <a:ext cx="3175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323232"/>
                </a:solidFill>
                <a:latin typeface="Segoe UI"/>
              </a:rPr>
              <a:t>Success Metrics Dashboard</a:t>
            </a:r>
          </a:p>
        </p:txBody>
      </p:sp>
      <p:sp>
        <p:nvSpPr>
          <p:cNvPr id="353" name="Desc11"/>
          <p:cNvSpPr txBox="1"/>
          <p:nvPr/>
        </p:nvSpPr>
        <p:spPr>
          <a:xfrm>
            <a:off x="4038600" y="5679440"/>
            <a:ext cx="5461000" cy="36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0">
                <a:solidFill>
                  <a:srgbClr val="404040"/>
                </a:solidFill>
                <a:latin typeface="Segoe UI"/>
              </a:rPr>
              <a:t>KPIs and tracking metrics for post-engagement measurement</a:t>
            </a:r>
          </a:p>
        </p:txBody>
      </p:sp>
      <p:sp>
        <p:nvSpPr>
          <p:cNvPr id="354" name="Badge11"/>
          <p:cNvSpPr/>
          <p:nvPr/>
        </p:nvSpPr>
        <p:spPr>
          <a:xfrm>
            <a:off x="10007600" y="574929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/>
              </a:rPr>
              <a:t>Deliverable</a:t>
            </a:r>
          </a:p>
        </p:txBody>
      </p:sp>
      <p:sp>
        <p:nvSpPr>
          <p:cNvPr id="355" name="FooterDiv"/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6" name="FooterText"/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pic>
        <p:nvPicPr>
          <p:cNvPr id="2" name="Picture 1" descr="A black and yellow logo&#10;&#10;AI-generated content may be incorrect.">
            <a:extLst>
              <a:ext uri="{FF2B5EF4-FFF2-40B4-BE49-F238E27FC236}">
                <a16:creationId xmlns:a16="http://schemas.microsoft.com/office/drawing/2014/main" id="{60D0A751-8518-CCF3-5525-0DEBED1D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E73CCD-2EC7-5086-27DA-A2BA6E82A2A2}"/>
              </a:ext>
            </a:extLst>
          </p:cNvPr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10056E-AFA8-F5D2-795D-FFFA205081E8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11" name="BottomBar1">
              <a:extLst>
                <a:ext uri="{FF2B5EF4-FFF2-40B4-BE49-F238E27FC236}">
                  <a16:creationId xmlns:a16="http://schemas.microsoft.com/office/drawing/2014/main" id="{77F1A427-8DE3-AE43-0548-6C6E1B76902B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BottomBar2">
              <a:extLst>
                <a:ext uri="{FF2B5EF4-FFF2-40B4-BE49-F238E27FC236}">
                  <a16:creationId xmlns:a16="http://schemas.microsoft.com/office/drawing/2014/main" id="{EB4AFEFD-2EBC-9AB4-174B-8F72E1BFAC62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BottomBar3">
              <a:extLst>
                <a:ext uri="{FF2B5EF4-FFF2-40B4-BE49-F238E27FC236}">
                  <a16:creationId xmlns:a16="http://schemas.microsoft.com/office/drawing/2014/main" id="{92D4D58F-FD51-5181-A663-3DB54E13BF8E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BottomBar4">
              <a:extLst>
                <a:ext uri="{FF2B5EF4-FFF2-40B4-BE49-F238E27FC236}">
                  <a16:creationId xmlns:a16="http://schemas.microsoft.com/office/drawing/2014/main" id="{22ED4234-7B43-6247-AC40-F6882E8FB37E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BottomBar5">
              <a:extLst>
                <a:ext uri="{FF2B5EF4-FFF2-40B4-BE49-F238E27FC236}">
                  <a16:creationId xmlns:a16="http://schemas.microsoft.com/office/drawing/2014/main" id="{603710EE-9239-068D-3CF7-6DF85D8A6464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924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3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36" name="Picture 35" descr="A black and yellow logo&#10;&#10;AI-generated content may be incorrect.">
            <a:extLst>
              <a:ext uri="{FF2B5EF4-FFF2-40B4-BE49-F238E27FC236}">
                <a16:creationId xmlns:a16="http://schemas.microsoft.com/office/drawing/2014/main" id="{287B0355-F2C2-1B95-3299-67421768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915" y="274319"/>
            <a:ext cx="1233768" cy="5578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16C5C13-379A-7C75-B50E-6181EAD88103}"/>
              </a:ext>
            </a:extLst>
          </p:cNvPr>
          <p:cNvGrpSpPr/>
          <p:nvPr/>
        </p:nvGrpSpPr>
        <p:grpSpPr>
          <a:xfrm>
            <a:off x="2679700" y="1086797"/>
            <a:ext cx="10341187" cy="4684406"/>
            <a:chOff x="2145453" y="1271016"/>
            <a:chExt cx="9784080" cy="4684406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0D33FC70-CCED-F765-D64D-7BD5EBA97C32}"/>
                </a:ext>
              </a:extLst>
            </p:cNvPr>
            <p:cNvSpPr/>
            <p:nvPr/>
          </p:nvSpPr>
          <p:spPr>
            <a:xfrm>
              <a:off x="2145453" y="1271016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5F4FB6-CD05-1F81-971C-F55EAF70B8FF}"/>
                </a:ext>
              </a:extLst>
            </p:cNvPr>
            <p:cNvSpPr txBox="1"/>
            <p:nvPr/>
          </p:nvSpPr>
          <p:spPr>
            <a:xfrm>
              <a:off x="2172885" y="1307592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A557B6A-47DD-3B34-8EFE-6CDE3BD0150E}"/>
                </a:ext>
              </a:extLst>
            </p:cNvPr>
            <p:cNvSpPr txBox="1"/>
            <p:nvPr/>
          </p:nvSpPr>
          <p:spPr>
            <a:xfrm>
              <a:off x="2785533" y="1271016"/>
              <a:ext cx="3657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Framework Overview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A8FE19D-0680-CB0C-9AB2-05902C6F2580}"/>
                </a:ext>
              </a:extLst>
            </p:cNvPr>
            <p:cNvSpPr txBox="1"/>
            <p:nvPr/>
          </p:nvSpPr>
          <p:spPr>
            <a:xfrm>
              <a:off x="2785533" y="1517904"/>
              <a:ext cx="9144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3 Pillars, 28 Capabilities, 5 Maturity Levels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77F78E88-1024-DF1D-B77D-E6119E7FBCF2}"/>
                </a:ext>
              </a:extLst>
            </p:cNvPr>
            <p:cNvSpPr/>
            <p:nvPr/>
          </p:nvSpPr>
          <p:spPr>
            <a:xfrm>
              <a:off x="2145453" y="1865376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956CB6-3078-D274-3F2E-D68911583FED}"/>
                </a:ext>
              </a:extLst>
            </p:cNvPr>
            <p:cNvSpPr txBox="1"/>
            <p:nvPr/>
          </p:nvSpPr>
          <p:spPr>
            <a:xfrm>
              <a:off x="2172885" y="1901952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7368DF1-0E7E-AB3C-E1CD-89F2CA8C6434}"/>
                </a:ext>
              </a:extLst>
            </p:cNvPr>
            <p:cNvSpPr txBox="1"/>
            <p:nvPr/>
          </p:nvSpPr>
          <p:spPr>
            <a:xfrm>
              <a:off x="2785533" y="1865376"/>
              <a:ext cx="3657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7 Strategic Motions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8AEE7C1-2297-E355-E1AA-B9B846551B38}"/>
                </a:ext>
              </a:extLst>
            </p:cNvPr>
            <p:cNvSpPr txBox="1"/>
            <p:nvPr/>
          </p:nvSpPr>
          <p:spPr>
            <a:xfrm>
              <a:off x="2785533" y="2112264"/>
              <a:ext cx="9144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Products, Services, Value Chains &amp; Dependencies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844793AB-D438-67B0-613F-B3F126C7DED2}"/>
                </a:ext>
              </a:extLst>
            </p:cNvPr>
            <p:cNvSpPr/>
            <p:nvPr/>
          </p:nvSpPr>
          <p:spPr>
            <a:xfrm>
              <a:off x="2145453" y="2459736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BE274D-B602-0B36-840D-7D52F8160546}"/>
                </a:ext>
              </a:extLst>
            </p:cNvPr>
            <p:cNvSpPr txBox="1"/>
            <p:nvPr/>
          </p:nvSpPr>
          <p:spPr>
            <a:xfrm>
              <a:off x="2172885" y="2496312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59A7A5-CB2A-FBE2-1D1E-B57D56DA0622}"/>
                </a:ext>
              </a:extLst>
            </p:cNvPr>
            <p:cNvSpPr txBox="1"/>
            <p:nvPr/>
          </p:nvSpPr>
          <p:spPr>
            <a:xfrm>
              <a:off x="2785533" y="2459736"/>
              <a:ext cx="3657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Engagement Model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4ACDC8F-69FF-236E-3CA5-4021CC50617B}"/>
                </a:ext>
              </a:extLst>
            </p:cNvPr>
            <p:cNvSpPr txBox="1"/>
            <p:nvPr/>
          </p:nvSpPr>
          <p:spPr>
            <a:xfrm>
              <a:off x="2785533" y="2706624"/>
              <a:ext cx="9144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How we identify, qualify, and nominate accounts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3E132A79-70B8-9CA3-2361-3FFDD86650E3}"/>
                </a:ext>
              </a:extLst>
            </p:cNvPr>
            <p:cNvSpPr/>
            <p:nvPr/>
          </p:nvSpPr>
          <p:spPr>
            <a:xfrm>
              <a:off x="2145453" y="3054096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EAACE72-5168-3BF9-B1C7-D9721CEB0648}"/>
                </a:ext>
              </a:extLst>
            </p:cNvPr>
            <p:cNvSpPr txBox="1"/>
            <p:nvPr/>
          </p:nvSpPr>
          <p:spPr>
            <a:xfrm>
              <a:off x="2172885" y="3090672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85C8AFE-209C-4B22-43FE-E61670C1E7EC}"/>
                </a:ext>
              </a:extLst>
            </p:cNvPr>
            <p:cNvSpPr txBox="1"/>
            <p:nvPr/>
          </p:nvSpPr>
          <p:spPr>
            <a:xfrm>
              <a:off x="2785533" y="3054096"/>
              <a:ext cx="3657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Assessment Process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EC36262-E050-9D48-ED5F-5FAD36D1F7AB}"/>
                </a:ext>
              </a:extLst>
            </p:cNvPr>
            <p:cNvSpPr txBox="1"/>
            <p:nvPr/>
          </p:nvSpPr>
          <p:spPr>
            <a:xfrm>
              <a:off x="2785533" y="3300984"/>
              <a:ext cx="9144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6-Session Discovery (12 hours) + Scoring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D9E5F5D1-0B6F-60D7-4C2C-DC3793232E25}"/>
                </a:ext>
              </a:extLst>
            </p:cNvPr>
            <p:cNvSpPr/>
            <p:nvPr/>
          </p:nvSpPr>
          <p:spPr>
            <a:xfrm>
              <a:off x="2145453" y="3648456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FA02D23-90EA-3057-962C-4B6D3DFC9DD8}"/>
                </a:ext>
              </a:extLst>
            </p:cNvPr>
            <p:cNvSpPr txBox="1"/>
            <p:nvPr/>
          </p:nvSpPr>
          <p:spPr>
            <a:xfrm>
              <a:off x="2172885" y="3685032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A4C80E0-40C0-F6B0-1321-FDA52F78E9EA}"/>
                </a:ext>
              </a:extLst>
            </p:cNvPr>
            <p:cNvSpPr txBox="1"/>
            <p:nvPr/>
          </p:nvSpPr>
          <p:spPr>
            <a:xfrm>
              <a:off x="2785533" y="3648456"/>
              <a:ext cx="3657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Deliverables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51E00DA-D6EE-472C-11E9-D77AAEB27C77}"/>
                </a:ext>
              </a:extLst>
            </p:cNvPr>
            <p:cNvSpPr txBox="1"/>
            <p:nvPr/>
          </p:nvSpPr>
          <p:spPr>
            <a:xfrm>
              <a:off x="2785533" y="3895344"/>
              <a:ext cx="9144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Assessment Report + 3 Transformation Roadmaps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66EED461-7D36-6930-73EC-9D701DA76C2E}"/>
                </a:ext>
              </a:extLst>
            </p:cNvPr>
            <p:cNvSpPr/>
            <p:nvPr/>
          </p:nvSpPr>
          <p:spPr>
            <a:xfrm>
              <a:off x="2145453" y="4242816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8154822-5A57-6824-EC80-88B23F0E3258}"/>
                </a:ext>
              </a:extLst>
            </p:cNvPr>
            <p:cNvSpPr txBox="1"/>
            <p:nvPr/>
          </p:nvSpPr>
          <p:spPr>
            <a:xfrm>
              <a:off x="2172885" y="4279392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06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98E9B11-F061-A706-8C02-C1C11DBDDA5D}"/>
                </a:ext>
              </a:extLst>
            </p:cNvPr>
            <p:cNvSpPr txBox="1"/>
            <p:nvPr/>
          </p:nvSpPr>
          <p:spPr>
            <a:xfrm>
              <a:off x="2785533" y="4242816"/>
              <a:ext cx="3657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Transformation Journey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61EAFFD-3006-713E-386C-8C24CDBF89B9}"/>
                </a:ext>
              </a:extLst>
            </p:cNvPr>
            <p:cNvSpPr txBox="1"/>
            <p:nvPr/>
          </p:nvSpPr>
          <p:spPr>
            <a:xfrm>
              <a:off x="2785533" y="4489704"/>
              <a:ext cx="9144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Quick Wins (6m) to Full Transformation (36m)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C0C2D0DF-5A62-88EA-9807-86B98193E9CD}"/>
                </a:ext>
              </a:extLst>
            </p:cNvPr>
            <p:cNvSpPr/>
            <p:nvPr/>
          </p:nvSpPr>
          <p:spPr>
            <a:xfrm>
              <a:off x="2145453" y="4837176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1570A7C-0942-2FB1-302A-B5EF526692BC}"/>
                </a:ext>
              </a:extLst>
            </p:cNvPr>
            <p:cNvSpPr txBox="1"/>
            <p:nvPr/>
          </p:nvSpPr>
          <p:spPr>
            <a:xfrm>
              <a:off x="2172885" y="4873752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07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1A2E810-260C-A7CA-C7C6-05AA03C947B3}"/>
                </a:ext>
              </a:extLst>
            </p:cNvPr>
            <p:cNvSpPr txBox="1"/>
            <p:nvPr/>
          </p:nvSpPr>
          <p:spPr>
            <a:xfrm>
              <a:off x="2785533" y="4837176"/>
              <a:ext cx="36576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ATU/STU</a:t>
              </a:r>
              <a:r>
                <a:rPr lang="en-US"/>
                <a:t>/CSU</a:t>
              </a:r>
              <a:r>
                <a:t> Action Model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E827455-DB6D-0662-341C-5064A1A6974B}"/>
                </a:ext>
              </a:extLst>
            </p:cNvPr>
            <p:cNvSpPr txBox="1"/>
            <p:nvPr/>
          </p:nvSpPr>
          <p:spPr>
            <a:xfrm>
              <a:off x="2785533" y="5084064"/>
              <a:ext cx="9144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How to prioritize, plan, and execute</a:t>
              </a: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AFF0DDB1-94A7-5838-EAB2-6DB05CA4EE92}"/>
                </a:ext>
              </a:extLst>
            </p:cNvPr>
            <p:cNvSpPr/>
            <p:nvPr/>
          </p:nvSpPr>
          <p:spPr>
            <a:xfrm>
              <a:off x="2145453" y="5431535"/>
              <a:ext cx="457200" cy="41148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D711B1F-4A51-730A-444E-18FA65A7557D}"/>
                </a:ext>
              </a:extLst>
            </p:cNvPr>
            <p:cNvSpPr txBox="1"/>
            <p:nvPr/>
          </p:nvSpPr>
          <p:spPr>
            <a:xfrm>
              <a:off x="2172885" y="5468111"/>
              <a:ext cx="4114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  <a:latin typeface="Segoe UI"/>
                </a:defRPr>
              </a:pPr>
              <a:r>
                <a:t>08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355584D-5964-F44F-AFDB-C695B3EC2AD8}"/>
                </a:ext>
              </a:extLst>
            </p:cNvPr>
            <p:cNvSpPr txBox="1"/>
            <p:nvPr/>
          </p:nvSpPr>
          <p:spPr>
            <a:xfrm>
              <a:off x="2785533" y="5431535"/>
              <a:ext cx="3657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700" b="1">
                  <a:solidFill>
                    <a:srgbClr val="000000"/>
                  </a:solidFill>
                  <a:latin typeface="Segoe UI"/>
                </a:defRPr>
              </a:pPr>
              <a:r>
                <a:t>Scaling with Partners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DFD445-2023-040A-8E76-A5FC77031457}"/>
                </a:ext>
              </a:extLst>
            </p:cNvPr>
            <p:cNvSpPr txBox="1"/>
            <p:nvPr/>
          </p:nvSpPr>
          <p:spPr>
            <a:xfrm>
              <a:off x="2785533" y="5678423"/>
              <a:ext cx="9144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404040"/>
                  </a:solidFill>
                  <a:latin typeface="Segoe UI"/>
                </a:defRPr>
              </a:pPr>
              <a:r>
                <a:t>Enabling partners to replicate the model</a:t>
              </a:r>
              <a:r>
                <a:rPr lang="en-US"/>
                <a:t> and implementation execution</a:t>
              </a:r>
              <a:endParaRPr/>
            </a:p>
          </p:txBody>
        </p:sp>
      </p:grpSp>
      <p:sp>
        <p:nvSpPr>
          <p:cNvPr id="5" name="FooterDiv">
            <a:extLst>
              <a:ext uri="{FF2B5EF4-FFF2-40B4-BE49-F238E27FC236}">
                <a16:creationId xmlns:a16="http://schemas.microsoft.com/office/drawing/2014/main" id="{22361743-40D9-8892-38F6-7A85C521FD2C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erText">
            <a:extLst>
              <a:ext uri="{FF2B5EF4-FFF2-40B4-BE49-F238E27FC236}">
                <a16:creationId xmlns:a16="http://schemas.microsoft.com/office/drawing/2014/main" id="{AF73342D-5CD3-08AD-E5C2-B38EA0507013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6CAF0E-3B63-3C68-A033-60D5B5C34ADF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4" name="BottomBar1">
              <a:extLst>
                <a:ext uri="{FF2B5EF4-FFF2-40B4-BE49-F238E27FC236}">
                  <a16:creationId xmlns:a16="http://schemas.microsoft.com/office/drawing/2014/main" id="{BB849FC2-CBD3-33F9-8226-24F11F3AF62A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BottomBar2">
              <a:extLst>
                <a:ext uri="{FF2B5EF4-FFF2-40B4-BE49-F238E27FC236}">
                  <a16:creationId xmlns:a16="http://schemas.microsoft.com/office/drawing/2014/main" id="{AF1E3E45-19DA-4E61-A8CF-158D7D332E84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BottomBar3">
              <a:extLst>
                <a:ext uri="{FF2B5EF4-FFF2-40B4-BE49-F238E27FC236}">
                  <a16:creationId xmlns:a16="http://schemas.microsoft.com/office/drawing/2014/main" id="{46DACD77-4310-AD40-A6FA-674434FF28CE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BottomBar4">
              <a:extLst>
                <a:ext uri="{FF2B5EF4-FFF2-40B4-BE49-F238E27FC236}">
                  <a16:creationId xmlns:a16="http://schemas.microsoft.com/office/drawing/2014/main" id="{82EB315A-82AE-092C-B82D-7338DA175052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BottomBar5">
              <a:extLst>
                <a:ext uri="{FF2B5EF4-FFF2-40B4-BE49-F238E27FC236}">
                  <a16:creationId xmlns:a16="http://schemas.microsoft.com/office/drawing/2014/main" id="{E9EBCAF5-64E7-6490-231D-FADFD884F327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54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Framework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3 Pillars | 28 Capabilities | 5 Maturity Levels | 7 Strategies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8D37FB-CB6C-4CCD-18EE-08E36B1746D5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7D75B97B-E7C3-B48A-B5D9-65768DFF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AI Maturity Framework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941606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28 capabilities across 3 pillars measuring AI adoption in software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5280"/>
            <a:ext cx="356616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51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P1: Developer Productivity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5275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  <a:latin typeface="Segoe UI"/>
              </a:defRPr>
            </a:pPr>
            <a:r>
              <a:t>8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824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5567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1.1  AI Coding Assistants &amp;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93999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8214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1.2  Dev Environment Standardization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9759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18719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1.3  Code Review Automation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552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552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1.4  Testing &amp; Test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9128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918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1.5  Knowledge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5704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284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1.6  Developer Experience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2280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650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1.7  Onboarding &amp; Time to Productivity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856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015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1.8  Code Quality &amp; Technical Debt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605280"/>
            <a:ext cx="3566160" cy="6400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1651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P2: DevOps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95275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  <a:latin typeface="Segoe UI"/>
              </a:defRPr>
            </a:pPr>
            <a:r>
              <a:t>10 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242824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245567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2.1  CI/CD Pipeline Automation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793999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28214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2.2  Test Automation &amp; Quality Gates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159759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18719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2.3  Security Scanning &amp; Compliance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52552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3552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2.4  Release Management &amp;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89128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3918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2.5  Observability &amp; Monitoring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25704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4284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2.6  Incident Response &amp;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62280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4840" y="4650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2.7  Infrastructure as Code &amp; GitOps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498856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34840" y="5015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2.8  DORA Metrics &amp; Performance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535432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34840" y="53817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2.9  Agentic DevOps &amp; SRE Automation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572008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34840" y="57475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2.10  Deployment Frequency &amp; Velocity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1605280"/>
            <a:ext cx="3566160" cy="640080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0" y="1651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P3: Application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195275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  <a:latin typeface="Segoe UI"/>
              </a:defRPr>
            </a:pPr>
            <a:r>
              <a:t>10 Capabilities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242824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75320" y="245567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3.1  Cloud Architecture &amp; Infrastructure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2793999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75320" y="28214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3.2  Platform Engineering &amp; IDP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3159759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75320" y="318719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3.3  AI/ML Operations (MLOps)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60" y="352552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75320" y="3552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3.4  Model Evaluation &amp; AI Safety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389128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75320" y="39187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3.5  RAG Systems &amp; Knowledge Retrieval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60" y="425704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75320" y="4284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3.6  AI Agents &amp; Orchestration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462280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75320" y="4650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3.7  Data Management &amp; Governance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38160" y="498856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75320" y="5015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3.8  API Management &amp; Service Mesh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8160" y="535432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75320" y="53817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3.9  Disaster Recovery &amp; BC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38160" y="5720080"/>
            <a:ext cx="3566160" cy="3200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75320" y="57475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3.10  Cost Optimization &amp; FinOps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5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73" name="Picture 72" descr="A black and yellow logo&#10;&#10;AI-generated content may be incorrect.">
            <a:extLst>
              <a:ext uri="{FF2B5EF4-FFF2-40B4-BE49-F238E27FC236}">
                <a16:creationId xmlns:a16="http://schemas.microsoft.com/office/drawing/2014/main" id="{FEDFE1D1-C25D-F0D3-1877-D8837F99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7BD176DB-F129-159F-9D19-74587E073285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FooterText">
            <a:extLst>
              <a:ext uri="{FF2B5EF4-FFF2-40B4-BE49-F238E27FC236}">
                <a16:creationId xmlns:a16="http://schemas.microsoft.com/office/drawing/2014/main" id="{E9E30211-40EF-D62F-83E6-1CB908AAE603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915ABE0-3C72-2C6D-8AD7-EF00B71ACFC0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71" name="BottomBar1">
              <a:extLst>
                <a:ext uri="{FF2B5EF4-FFF2-40B4-BE49-F238E27FC236}">
                  <a16:creationId xmlns:a16="http://schemas.microsoft.com/office/drawing/2014/main" id="{26E2B50D-80A8-1DE4-99F5-40C8F3AB4828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BottomBar2">
              <a:extLst>
                <a:ext uri="{FF2B5EF4-FFF2-40B4-BE49-F238E27FC236}">
                  <a16:creationId xmlns:a16="http://schemas.microsoft.com/office/drawing/2014/main" id="{6EDD6487-1303-D901-0319-693C75B0DB89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BottomBar3">
              <a:extLst>
                <a:ext uri="{FF2B5EF4-FFF2-40B4-BE49-F238E27FC236}">
                  <a16:creationId xmlns:a16="http://schemas.microsoft.com/office/drawing/2014/main" id="{7A05FE83-8F6A-9058-6B30-E05F01F2DAB6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BottomBar4">
              <a:extLst>
                <a:ext uri="{FF2B5EF4-FFF2-40B4-BE49-F238E27FC236}">
                  <a16:creationId xmlns:a16="http://schemas.microsoft.com/office/drawing/2014/main" id="{756F75B3-FD15-3B5A-D286-21F59B92E0F5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BottomBar5">
              <a:extLst>
                <a:ext uri="{FF2B5EF4-FFF2-40B4-BE49-F238E27FC236}">
                  <a16:creationId xmlns:a16="http://schemas.microsoft.com/office/drawing/2014/main" id="{81FF10B0-766D-7BCF-5A46-DD2BDB3EDA81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3510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5 Maturity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918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From Traditional (L0) to Agentic/Autonomous (L4)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17458"/>
            <a:ext cx="640080" cy="640080"/>
          </a:xfrm>
          <a:prstGeom prst="ellipse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718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1745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Segoe UI"/>
              </a:defRPr>
            </a:pPr>
            <a:r>
              <a:t>Traditional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3749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Score: 0.0-0.4  |  0% AI adoption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54618"/>
            <a:ext cx="2303092" cy="314625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39" y="1874074"/>
            <a:ext cx="20578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sz="1200"/>
              <a:t>Manual, ad-hoc, no AI tools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31858"/>
            <a:ext cx="640080" cy="640080"/>
          </a:xfrm>
          <a:prstGeom prst="ellipse">
            <a:avLst/>
          </a:prstGeom>
          <a:solidFill>
            <a:srgbClr val="64A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4158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3185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Segoe UI"/>
              </a:defRPr>
            </a:pPr>
            <a:r>
              <a:t>AI-Assisted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5189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Score: 0.5-1.4  |  &lt;20% AI adoption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769018"/>
            <a:ext cx="3657600" cy="320040"/>
          </a:xfrm>
          <a:prstGeom prst="roundRect">
            <a:avLst/>
          </a:prstGeom>
          <a:solidFill>
            <a:srgbClr val="64A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788474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sz="1200"/>
              <a:t>Piloting AI tools, limited standardization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46258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65598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4625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Segoe UI"/>
              </a:defRPr>
            </a:pPr>
            <a:r>
              <a:t>AI-Enhanced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6629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Score: 1.5-2.4  |  50%+ AI adoption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683418"/>
            <a:ext cx="5486400" cy="3200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3702874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sz="1200"/>
              <a:t>Significant AI integration, managed processes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460658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57038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6065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Segoe UI"/>
              </a:defRPr>
            </a:pPr>
            <a:r>
              <a:t>AI-Optimized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8069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Score: 2.5-3.4  |  75%+ AI adoption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597818"/>
            <a:ext cx="7061200" cy="3200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4617274"/>
            <a:ext cx="6969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sz="1200"/>
              <a:t>AI agents, predictive capabilities, automated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375058"/>
            <a:ext cx="640080" cy="640080"/>
          </a:xfrm>
          <a:prstGeom prst="ellipse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48478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7505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Segoe UI"/>
              </a:defRPr>
            </a:pPr>
            <a:r>
              <a:t>Agentic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9509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Score: 3.5-4.0  |  90%+ AI adoption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5512218"/>
            <a:ext cx="9144000" cy="320040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5531674"/>
            <a:ext cx="8961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sz="1200"/>
              <a:t>Multi-agent systems, self-healing, autonomous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6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39" name="Picture 38" descr="A black and yellow logo&#10;&#10;AI-generated content may be incorrect.">
            <a:extLst>
              <a:ext uri="{FF2B5EF4-FFF2-40B4-BE49-F238E27FC236}">
                <a16:creationId xmlns:a16="http://schemas.microsoft.com/office/drawing/2014/main" id="{C95A9A47-D30A-4C29-EAEE-20FA9102F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6CF34ED4-3641-07A8-A6C6-491461F62617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FooterText">
            <a:extLst>
              <a:ext uri="{FF2B5EF4-FFF2-40B4-BE49-F238E27FC236}">
                <a16:creationId xmlns:a16="http://schemas.microsoft.com/office/drawing/2014/main" id="{CFEED2A8-2097-85DA-2E4F-D349344AB1FD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808126-784B-AA63-DD24-373543A05C07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36" name="BottomBar1">
              <a:extLst>
                <a:ext uri="{FF2B5EF4-FFF2-40B4-BE49-F238E27FC236}">
                  <a16:creationId xmlns:a16="http://schemas.microsoft.com/office/drawing/2014/main" id="{20E9D335-FF5B-F7EB-5DE3-176F80222789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BottomBar2">
              <a:extLst>
                <a:ext uri="{FF2B5EF4-FFF2-40B4-BE49-F238E27FC236}">
                  <a16:creationId xmlns:a16="http://schemas.microsoft.com/office/drawing/2014/main" id="{9B9721A3-23C9-A40E-C0DD-0C26E72C5DFF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BottomBar3">
              <a:extLst>
                <a:ext uri="{FF2B5EF4-FFF2-40B4-BE49-F238E27FC236}">
                  <a16:creationId xmlns:a16="http://schemas.microsoft.com/office/drawing/2014/main" id="{8E758C59-3FD8-D027-169D-7AF0C59FC7CB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BottomBar4">
              <a:extLst>
                <a:ext uri="{FF2B5EF4-FFF2-40B4-BE49-F238E27FC236}">
                  <a16:creationId xmlns:a16="http://schemas.microsoft.com/office/drawing/2014/main" id="{AAD90E83-B3CC-B44F-051F-C86807C69939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BottomBar5">
              <a:extLst>
                <a:ext uri="{FF2B5EF4-FFF2-40B4-BE49-F238E27FC236}">
                  <a16:creationId xmlns:a16="http://schemas.microsoft.com/office/drawing/2014/main" id="{B1897F62-F610-F719-E1D6-60FE881D6AE4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6671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7 Strategic Motions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Products, Services, Value Chains &amp; Decision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312D4-47C9-6CFC-D30F-1BCEF829F61D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F8432E04-4C1E-42BE-1E0D-122C380FE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7 Strategies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22076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Segoe UI"/>
              </a:defRPr>
            </a:pPr>
            <a:r>
              <a:rPr sz="1400"/>
              <a:t>Actionable motions that advance accounts through maturity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0936"/>
            <a:ext cx="4572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992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80936"/>
            <a:ext cx="484632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992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80936"/>
            <a:ext cx="12801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499224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Pillars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480936"/>
            <a:ext cx="21945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60920" y="14992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Key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480936"/>
            <a:ext cx="21945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46920" y="14992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46696"/>
            <a:ext cx="45720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" y="1846696"/>
            <a:ext cx="484632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846696"/>
            <a:ext cx="12801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1846696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0" y="1846696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2920" y="1983855"/>
            <a:ext cx="320040" cy="3200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2900" y="2020072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1956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GitHub Platform 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98385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P1, 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19198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Land GitHub + GHAS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892415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04040"/>
                </a:solidFill>
                <a:latin typeface="Segoe UI"/>
              </a:defRPr>
            </a:pPr>
            <a:r>
              <a:t>ADO-Centric accounts</a:t>
            </a:r>
            <a:br/>
            <a:r>
              <a:t>(ADO &gt; GHEC x2)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468488"/>
            <a:ext cx="457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5840" y="2468488"/>
            <a:ext cx="4846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0" y="2468488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0" y="2468488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01200" y="2468488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2920" y="2605648"/>
            <a:ext cx="320040" cy="320040"/>
          </a:xfrm>
          <a:prstGeom prst="ellipse">
            <a:avLst/>
          </a:prstGeom>
          <a:solidFill>
            <a:srgbClr val="866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7180" y="2641864"/>
            <a:ext cx="45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25782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Foundry + SRE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605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P2, 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54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Enable AI Agents &amp; SRE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514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04040"/>
                </a:solidFill>
                <a:latin typeface="Segoe UI"/>
              </a:defRPr>
            </a:pPr>
            <a:r>
              <a:t>All accounts</a:t>
            </a:r>
            <a:br/>
            <a:r>
              <a:t>(Priority: Foundry ACR &gt; 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90280"/>
            <a:ext cx="45720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05840" y="3090280"/>
            <a:ext cx="484632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0" y="3090280"/>
            <a:ext cx="12801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315200" y="3090280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601200" y="3090280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2920" y="3227440"/>
            <a:ext cx="320040" cy="32004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0040" y="3263656"/>
            <a:ext cx="411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3200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App Modernization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3227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163432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rPr lang="en-US"/>
              <a:t>Agentic Developer </a:t>
            </a:r>
            <a:r>
              <a:t>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36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04040"/>
                </a:solidFill>
                <a:latin typeface="Segoe UI"/>
              </a:defRPr>
            </a:pPr>
            <a:r>
              <a:t>All accounts</a:t>
            </a:r>
            <a:br/>
            <a:r>
              <a:t>(ModernizeApps &gt; 70)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712072"/>
            <a:ext cx="457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5840" y="3712072"/>
            <a:ext cx="4846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43600" y="3712072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3712072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601200" y="3712072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2920" y="3849232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2900" y="3885448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382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AI Apps Development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384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3785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Build AI Applications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75779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04040"/>
                </a:solidFill>
                <a:latin typeface="Segoe UI"/>
              </a:defRPr>
            </a:pPr>
            <a:r>
              <a:t>S2/S3 progress</a:t>
            </a:r>
            <a:br/>
            <a:r>
              <a:t>(AI ACR &gt; 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333864"/>
            <a:ext cx="45720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05840" y="4333864"/>
            <a:ext cx="484632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43600" y="4333864"/>
            <a:ext cx="12801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315200" y="4333864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601200" y="4333864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02920" y="4471024"/>
            <a:ext cx="320040" cy="32004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2900" y="450724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" y="44435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GHCP Acceleration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9320" y="4471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60920" y="4407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Expand Copilot Seats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6920" y="4379583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04040"/>
                </a:solidFill>
                <a:latin typeface="Segoe UI"/>
              </a:defRPr>
            </a:pPr>
            <a:r>
              <a:t>Whitespace &gt; 1K seats</a:t>
            </a:r>
            <a:br/>
            <a:r>
              <a:t>(Penetration &lt; 70%)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955656"/>
            <a:ext cx="457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05840" y="4955656"/>
            <a:ext cx="4846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943600" y="4955656"/>
            <a:ext cx="12801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315200" y="4955656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601200" y="4955656"/>
            <a:ext cx="2194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02920" y="5092816"/>
            <a:ext cx="320040" cy="3200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2900" y="5129032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" y="50653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Agentic Activation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89320" y="50928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P1, P2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20" y="5028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Activate PRU &amp; Agents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500137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04040"/>
                </a:solidFill>
                <a:latin typeface="Segoe UI"/>
              </a:defRPr>
            </a:pPr>
            <a:r>
              <a:t>GHCP seats but</a:t>
            </a:r>
            <a:br/>
            <a:r>
              <a:t>PRU/1K &lt; 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577448"/>
            <a:ext cx="45720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05840" y="5577448"/>
            <a:ext cx="484632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943600" y="5577448"/>
            <a:ext cx="12801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315200" y="5577448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601200" y="5577448"/>
            <a:ext cx="2194560" cy="5943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920" y="5714608"/>
            <a:ext cx="320040" cy="320040"/>
          </a:xfrm>
          <a:prstGeom prst="ellipse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82900" y="5750824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1560" y="56871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89320" y="5714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P2, P3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60920" y="5650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Code-to-Cloud Security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46920" y="56231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04040"/>
                </a:solidFill>
                <a:latin typeface="Segoe UI"/>
              </a:defRPr>
            </a:pPr>
            <a:r>
              <a:t>GHAS/Defender gap</a:t>
            </a:r>
            <a:br/>
            <a:r>
              <a:t>OR Foundry w/o Purview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6144376"/>
            <a:ext cx="11277295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8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95" name="Picture 94" descr="A black and yellow logo&#10;&#10;AI-generated content may be incorrect.">
            <a:extLst>
              <a:ext uri="{FF2B5EF4-FFF2-40B4-BE49-F238E27FC236}">
                <a16:creationId xmlns:a16="http://schemas.microsoft.com/office/drawing/2014/main" id="{2BA0FB6C-1FF3-FB4D-14ED-8757CBA14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64284ECC-1AF1-27B8-BFC3-137B2010AD5D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FooterText">
            <a:extLst>
              <a:ext uri="{FF2B5EF4-FFF2-40B4-BE49-F238E27FC236}">
                <a16:creationId xmlns:a16="http://schemas.microsoft.com/office/drawing/2014/main" id="{41D08001-41B6-9FEF-9D2D-BF74B70B05C1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F473674-5EA6-B492-E49F-0C87DB33B2AB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97" name="BottomBar1">
              <a:extLst>
                <a:ext uri="{FF2B5EF4-FFF2-40B4-BE49-F238E27FC236}">
                  <a16:creationId xmlns:a16="http://schemas.microsoft.com/office/drawing/2014/main" id="{1C63CB06-6FB0-FD4D-7780-21B598FC4FBF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BottomBar2">
              <a:extLst>
                <a:ext uri="{FF2B5EF4-FFF2-40B4-BE49-F238E27FC236}">
                  <a16:creationId xmlns:a16="http://schemas.microsoft.com/office/drawing/2014/main" id="{3F73EBC7-396A-EE86-9948-E2E0CF22E27C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BottomBar3">
              <a:extLst>
                <a:ext uri="{FF2B5EF4-FFF2-40B4-BE49-F238E27FC236}">
                  <a16:creationId xmlns:a16="http://schemas.microsoft.com/office/drawing/2014/main" id="{67E57627-5A97-90C1-ABB6-86E6314AA879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BottomBar4">
              <a:extLst>
                <a:ext uri="{FF2B5EF4-FFF2-40B4-BE49-F238E27FC236}">
                  <a16:creationId xmlns:a16="http://schemas.microsoft.com/office/drawing/2014/main" id="{52389CA4-5A65-43B4-178A-2AFC94089B1B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BottomBar5">
              <a:extLst>
                <a:ext uri="{FF2B5EF4-FFF2-40B4-BE49-F238E27FC236}">
                  <a16:creationId xmlns:a16="http://schemas.microsoft.com/office/drawing/2014/main" id="{4CA2AC19-6D7A-601D-9CC7-034A3312623A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36413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S1 + S5 + S6: GitHub Ecosystem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2385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Land platform, expand seats, deepen with agents — the connected GitHub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42717"/>
            <a:ext cx="3749039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442717"/>
            <a:ext cx="3749039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7014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S1: GitHub Platform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135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Value Chain: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567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 Azure Repos → GitHub Repos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399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 Copilot Standalone → Enterprise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1431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 PRU / Coding Agent / Agent HQ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886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4. GHAS (CodeQL, Secret Scanning, Dependabot)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295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5. GHAS + Defender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2871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Products &amp; SKUs: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0303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GHEC, GHAS,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4992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Copilot Enterprise, PRU, Agent HQ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96813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Defender for Cloud (CSPM)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4370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GHAzDO (for hybrid)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0031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7C10"/>
                </a:solidFill>
                <a:latin typeface="Segoe UI"/>
              </a:defRPr>
            </a:pPr>
            <a:r>
              <a:t>Impact: P1 (1.1, 1.3, 1.6) + P2 (2.1, 2.3, 2.9)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7463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Level Jump: L0/L1 → L2/L3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442717"/>
            <a:ext cx="3749039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40" y="1442717"/>
            <a:ext cx="3749039" cy="4572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147014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S5: GHCP Acceleration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99135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13438"/>
                </a:solidFill>
                <a:latin typeface="Segoe UI"/>
              </a:defRPr>
            </a:pPr>
            <a:r>
              <a:t>Value Chain: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26567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 Analyze GHEC vs GHCP seats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5399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 Identify whitespace (potential - current)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81431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 Plan Copilot expansion (Biz → Enterprise)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0886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4. Drive adoption (%Active, %Engaged)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36295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5. Increase PRU usage (Agent missions)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72871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13438"/>
                </a:solidFill>
                <a:latin typeface="Segoe UI"/>
              </a:defRPr>
            </a:pPr>
            <a:r>
              <a:t>Products &amp; SKUs: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0303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GHCP Business / 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24992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Copilot Chat, Copilot in CLI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496813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GitHub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74370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Copilot Extensions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0031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Impact: P1 (1.1, 1.3, 1.6, 1.8)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37463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Level Jump: L1 → L2/L3 (seat expansion)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1442717"/>
            <a:ext cx="3749039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60" y="1442717"/>
            <a:ext cx="3749039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147014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S6: Agentic Activation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199135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Value Chain: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26567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 Assess Copilot usage (%Active, %Engaged)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5399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 Enable Copilot Coding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81431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 Train on agent-assisted workflows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0886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4. Activate Agent HQ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36295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5. Scale PRU → Bridge to S2 (Foundry)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72871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Products &amp; SKUs: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00303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Copilot Coding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24992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Agent HQ, PRU consumption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496813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Foundry Agent Service (bridge)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74370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GitHub Actions (agentic CI)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10031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Segoe UI"/>
              </a:defRPr>
            </a:pPr>
            <a:r>
              <a:t>Impact: P1 (1.1, 1.4, 1.6) + P2 (2.9)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37463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Level Jump: L2 → L3/L4 (depth)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26446" y="5968579"/>
            <a:ext cx="86343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SYNERGY:  S1 lands GHEC seats  →  S5 expands Copilot  →  S6 deepens with PRU &amp; Agents  →  Bridge to S2 (Foundry)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9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57" name="Picture 56" descr="A black and yellow logo&#10;&#10;AI-generated content may be incorrect.">
            <a:extLst>
              <a:ext uri="{FF2B5EF4-FFF2-40B4-BE49-F238E27FC236}">
                <a16:creationId xmlns:a16="http://schemas.microsoft.com/office/drawing/2014/main" id="{7BF974A6-5B98-3FEC-7013-8544D9749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C030F70E-7D7F-2397-644B-3DBE506E1A7F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FooterText">
            <a:extLst>
              <a:ext uri="{FF2B5EF4-FFF2-40B4-BE49-F238E27FC236}">
                <a16:creationId xmlns:a16="http://schemas.microsoft.com/office/drawing/2014/main" id="{1C20FB75-6F50-682C-32A8-BE55A7AA3F7D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1A2EA69-A5B4-3375-FC97-64E5AE0B346E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58" name="BottomBar1">
              <a:extLst>
                <a:ext uri="{FF2B5EF4-FFF2-40B4-BE49-F238E27FC236}">
                  <a16:creationId xmlns:a16="http://schemas.microsoft.com/office/drawing/2014/main" id="{339C4415-6FA9-CA6D-812D-366A2F395731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BottomBar2">
              <a:extLst>
                <a:ext uri="{FF2B5EF4-FFF2-40B4-BE49-F238E27FC236}">
                  <a16:creationId xmlns:a16="http://schemas.microsoft.com/office/drawing/2014/main" id="{A9F32623-C129-0DE0-9119-D6B6452C06BC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BottomBar3">
              <a:extLst>
                <a:ext uri="{FF2B5EF4-FFF2-40B4-BE49-F238E27FC236}">
                  <a16:creationId xmlns:a16="http://schemas.microsoft.com/office/drawing/2014/main" id="{49C1F105-B0D5-55B1-C5D1-EB4732311607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BottomBar4">
              <a:extLst>
                <a:ext uri="{FF2B5EF4-FFF2-40B4-BE49-F238E27FC236}">
                  <a16:creationId xmlns:a16="http://schemas.microsoft.com/office/drawing/2014/main" id="{258F9521-7737-3843-A270-ECAC6DC1B52D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BottomBar5">
              <a:extLst>
                <a:ext uri="{FF2B5EF4-FFF2-40B4-BE49-F238E27FC236}">
                  <a16:creationId xmlns:a16="http://schemas.microsoft.com/office/drawing/2014/main" id="{3BC37081-8F6A-F85B-81D4-B291B8BAE2F7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2350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318" y="27431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S2 + S4: AI Platform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879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Foundry integration enables AI agents and AI application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26584"/>
            <a:ext cx="5669280" cy="480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426585"/>
            <a:ext cx="5669280" cy="457200"/>
          </a:xfrm>
          <a:prstGeom prst="rect">
            <a:avLst/>
          </a:prstGeom>
          <a:solidFill>
            <a:srgbClr val="866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5401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S2: Foundry + SRE Agent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5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661C5"/>
                </a:solidFill>
                <a:latin typeface="Segoe UI"/>
              </a:defRPr>
            </a:pPr>
            <a:r>
              <a:t>Value Chain: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95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 GitHub platform (from S1 or existing)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386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 Azure AI Foundry 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1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 Agent HQ ↔ Foundry Agent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7250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4. Azure SRE Agent on critical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468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5. AIOps &amp; Self-healing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75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661C5"/>
                </a:solidFill>
                <a:latin typeface="Segoe UI"/>
              </a:defRPr>
            </a:pPr>
            <a:r>
              <a:t>Products &amp; SKUs: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49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Azure AI Foundry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495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Models, tools,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4215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Foundry Agent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54215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Multi-agent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83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Azure SRE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34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$0.10/AAU, ~$288/mo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127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Semantic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127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Agent development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19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Azure Monitor + Grafana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199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Observability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040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61C5"/>
                </a:solidFill>
                <a:latin typeface="Segoe UI"/>
              </a:defRPr>
            </a:pPr>
            <a:r>
              <a:t>Impact: P1 (1.1 Agent, 1.5) + P2 (2.6, 2.9) + P3 (3.3, 3.6)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783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3232"/>
                </a:solidFill>
                <a:latin typeface="Segoe UI"/>
              </a:defRPr>
            </a:pPr>
            <a:r>
              <a:t>Level Jump: L2 → L3/L4 across multiple 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44104"/>
            <a:ext cx="5303520" cy="1287920"/>
          </a:xfrm>
          <a:prstGeom prst="roundRect">
            <a:avLst/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5355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661C5"/>
                </a:solidFill>
                <a:latin typeface="Segoe UI"/>
              </a:defRPr>
            </a:pPr>
            <a:r>
              <a:t>Azure SRE Agent Details: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986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Billing: Azure Agent Units (AAU) — $0.10/AAU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11031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Always-On: 4 AAUs/hour (~$288/month per agent)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2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Active Ops: 0.25 AAUs/second during incidents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133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Platforms: AKS, App Service, Azure databases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426583"/>
            <a:ext cx="5669280" cy="48072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1426584"/>
            <a:ext cx="566928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14540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S4: AI Apps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975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Three Motions: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2249544"/>
            <a:ext cx="82296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226783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27697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New AI apps on AKS + Foundry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2597015"/>
            <a:ext cx="82296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2615303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MODERNIZE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26244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Add AI to existing apps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2944487"/>
            <a:ext cx="82296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296277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297192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Enterprise systems with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1975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Products &amp; SKUs: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224954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3232"/>
                </a:solidFill>
                <a:latin typeface="Segoe UI"/>
              </a:defRPr>
            </a:pPr>
            <a:r>
              <a:t>Azure AI Foundry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22495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04040"/>
                </a:solidFill>
                <a:latin typeface="Segoe UI"/>
              </a:defRPr>
            </a:pPr>
            <a:r>
              <a:t>Development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25055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3232"/>
                </a:solidFill>
                <a:latin typeface="Segoe UI"/>
              </a:defRPr>
            </a:pPr>
            <a:r>
              <a:t>Semantic Kernel / AutoGen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250557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04040"/>
                </a:solidFill>
                <a:latin typeface="Segoe UI"/>
              </a:defRPr>
            </a:pPr>
            <a:r>
              <a:t>Orchestration frameworks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27616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3232"/>
                </a:solidFill>
                <a:latin typeface="Segoe UI"/>
              </a:defRPr>
            </a:pPr>
            <a:r>
              <a:t>Azure AI 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76160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04040"/>
                </a:solidFill>
                <a:latin typeface="Segoe UI"/>
              </a:defRPr>
            </a:pPr>
            <a:r>
              <a:t>RAG &amp; vector 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01763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3232"/>
                </a:solidFill>
                <a:latin typeface="Segoe UI"/>
              </a:defRPr>
            </a:pPr>
            <a:r>
              <a:t>Cosmos 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3017639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04040"/>
                </a:solidFill>
                <a:latin typeface="Segoe UI"/>
              </a:defRPr>
            </a:pPr>
            <a:r>
              <a:t>Multi-model database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2736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3232"/>
                </a:solidFill>
                <a:latin typeface="Segoe UI"/>
              </a:defRPr>
            </a:pPr>
            <a:r>
              <a:t>AI Content Safety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327367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04040"/>
                </a:solidFill>
                <a:latin typeface="Segoe UI"/>
              </a:defRPr>
            </a:pPr>
            <a:r>
              <a:t>Responsible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352970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3232"/>
                </a:solidFill>
                <a:latin typeface="Segoe UI"/>
              </a:defRPr>
            </a:pPr>
            <a:r>
              <a:t>AI Apps on AKS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352970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04040"/>
                </a:solidFill>
                <a:latin typeface="Segoe UI"/>
              </a:defRPr>
            </a:pPr>
            <a:r>
              <a:t>Production deployment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3785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3232"/>
                </a:solidFill>
                <a:latin typeface="Segoe UI"/>
              </a:defRPr>
            </a:pPr>
            <a:r>
              <a:t>Container Apps / Functions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37857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04040"/>
                </a:solidFill>
                <a:latin typeface="Segoe UI"/>
              </a:defRPr>
            </a:pPr>
            <a:r>
              <a:t>Serverless 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0783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Impact: P3 (3.3, 3.4, 3.5, 3.6, 3.7) + P2 (2.9 indirect)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3526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3232"/>
                </a:solidFill>
                <a:latin typeface="Segoe UI"/>
              </a:defRPr>
            </a:pPr>
            <a:r>
              <a:t>Level Jump: L1/L2 → L3/L4 for AI capabilities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4718423"/>
            <a:ext cx="5303520" cy="1013601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0" y="47641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Technology Categories: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499274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Development: Foundry, GitHub Models, Copilot Extensions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519391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Orchestration: Semantic Kernel, AutoGen, Foundry Agent Service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53950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Data: AI Search, Cosmos DB, Vector DBs | Safety: Content Safety, Purview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10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71" name="Picture 70" descr="A black and yellow logo&#10;&#10;AI-generated content may be incorrect.">
            <a:extLst>
              <a:ext uri="{FF2B5EF4-FFF2-40B4-BE49-F238E27FC236}">
                <a16:creationId xmlns:a16="http://schemas.microsoft.com/office/drawing/2014/main" id="{6BC2739A-6BE9-CC05-2B21-E00163B06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AB08D574-6E6F-3AB1-910D-E4E8293CD4BC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FooterText">
            <a:extLst>
              <a:ext uri="{FF2B5EF4-FFF2-40B4-BE49-F238E27FC236}">
                <a16:creationId xmlns:a16="http://schemas.microsoft.com/office/drawing/2014/main" id="{B0AE6AF4-B449-D052-E277-C0EB7DDA139E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2DD40A1-BF32-9814-E66E-E8FAAEB5FC1E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72" name="BottomBar1">
              <a:extLst>
                <a:ext uri="{FF2B5EF4-FFF2-40B4-BE49-F238E27FC236}">
                  <a16:creationId xmlns:a16="http://schemas.microsoft.com/office/drawing/2014/main" id="{158A941E-60DA-A90B-8C94-5617CAEFBDF5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BottomBar2">
              <a:extLst>
                <a:ext uri="{FF2B5EF4-FFF2-40B4-BE49-F238E27FC236}">
                  <a16:creationId xmlns:a16="http://schemas.microsoft.com/office/drawing/2014/main" id="{403C745E-8AD3-8033-A510-3EEAC4A2A8AE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BottomBar3">
              <a:extLst>
                <a:ext uri="{FF2B5EF4-FFF2-40B4-BE49-F238E27FC236}">
                  <a16:creationId xmlns:a16="http://schemas.microsoft.com/office/drawing/2014/main" id="{2CC061D6-07DB-4B74-2C41-625A09C82819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BottomBar4">
              <a:extLst>
                <a:ext uri="{FF2B5EF4-FFF2-40B4-BE49-F238E27FC236}">
                  <a16:creationId xmlns:a16="http://schemas.microsoft.com/office/drawing/2014/main" id="{4340AEA6-5EB9-B958-686A-054D4E0DD7DD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BottomBar5">
              <a:extLst>
                <a:ext uri="{FF2B5EF4-FFF2-40B4-BE49-F238E27FC236}">
                  <a16:creationId xmlns:a16="http://schemas.microsoft.com/office/drawing/2014/main" id="{7E3EF24E-273B-13D0-F262-2F808FFBB914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64821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8385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S3 + S7: App Modernization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5054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Platform engineering foundations and code-to-cloud security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49493"/>
            <a:ext cx="5669280" cy="47308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449493"/>
            <a:ext cx="5669280" cy="4572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76925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3232"/>
                </a:solidFill>
                <a:latin typeface="Segoe UI"/>
              </a:defRPr>
            </a:pPr>
            <a:r>
              <a:t>S3: App Modernization (</a:t>
            </a:r>
            <a:r>
              <a:rPr lang="en-US"/>
              <a:t>Agentic Developer Platform</a:t>
            </a:r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89572"/>
            <a:ext cx="1371600" cy="612647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3529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H1: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6389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DCDC"/>
                </a:solidFill>
                <a:latin typeface="Segoe UI"/>
              </a:defRPr>
            </a:pPr>
            <a:r>
              <a:t>GitHub + CI/CD +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35293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Products: GHEC, GHAS, Actions, Defender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75372"/>
            <a:ext cx="1371600" cy="640079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82109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H2: Enhancement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4969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DCDC"/>
                </a:solidFill>
                <a:latin typeface="Segoe UI"/>
              </a:defRPr>
            </a:pPr>
            <a:r>
              <a:t>Platform Engineering + IDP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821093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Products: AKS/ARO, RHDH, Golden Paths, Managed DBs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61171"/>
            <a:ext cx="1371600" cy="640079"/>
          </a:xfrm>
          <a:prstGeom prst="roundRect">
            <a:avLst/>
          </a:prstGeom>
          <a:solidFill>
            <a:srgbClr val="866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5068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H3: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35492"/>
            <a:ext cx="1280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DCDC"/>
                </a:solidFill>
                <a:latin typeface="Segoe UI"/>
              </a:defRPr>
            </a:pPr>
            <a:r>
              <a:t>Agentic DevOps +</a:t>
            </a:r>
            <a:br>
              <a:rPr lang="en-US"/>
            </a:br>
            <a:r>
              <a:t> AI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50689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Products: Foundry Agent Service, SRE Agent, AI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9269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8C00"/>
                </a:solidFill>
                <a:latin typeface="Segoe UI"/>
              </a:defRPr>
            </a:pPr>
            <a:r>
              <a:t>Impact: P1 (1.2, 1.7) + P2 (2.1, 2.7) + P3 (3.1, 3.2, 3.8)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6701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3232"/>
                </a:solidFill>
                <a:latin typeface="Segoe UI"/>
              </a:defRPr>
            </a:pPr>
            <a:r>
              <a:t>Level Jump: L0/L1 → L2/L3 for platform capabilities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812" y="4741332"/>
            <a:ext cx="5089763" cy="1073773"/>
          </a:xfrm>
          <a:prstGeom prst="round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78705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8C00"/>
                </a:solidFill>
                <a:latin typeface="Segoe UI"/>
              </a:defRPr>
            </a:pPr>
            <a:r>
              <a:t>Core Products: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15653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Container: AKS, ARO, Container Apps, Azure Arc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6821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Platform Eng: Red Hat Developer Hub (RHDH), Golden Paths, IDP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1798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Database: Managed PostgreSQL, Cosmos DB, Azure 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49493"/>
            <a:ext cx="5669280" cy="47308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449493"/>
            <a:ext cx="5669280" cy="457200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47692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S7: Security &amp; Governance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99813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  <a:latin typeface="Segoe UI"/>
              </a:defRPr>
            </a:pPr>
            <a:r>
              <a:t>Security Products &amp; SKUs: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27245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GHAS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27245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CodeQL, Secret Scanning, Dependabot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27245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8D4"/>
                </a:solidFill>
                <a:latin typeface="Segoe UI"/>
              </a:defRPr>
            </a:pPr>
            <a:r>
              <a:t>$49/committer/mo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5467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GHAzDO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5467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GHAS for Azure DevOps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5467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8D4"/>
                </a:solidFill>
                <a:latin typeface="Segoe UI"/>
              </a:defRPr>
            </a:pPr>
            <a:r>
              <a:t>Per committer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2109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Defender CSPM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82109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Cloud Security Posture Mgmt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82109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8D4"/>
                </a:solidFill>
                <a:latin typeface="Segoe UI"/>
              </a:defRPr>
            </a:pPr>
            <a:r>
              <a:t>~$15/server/mo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0954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Defender for Containers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0954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Runtime container protection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30954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8D4"/>
                </a:solidFill>
                <a:latin typeface="Segoe UI"/>
              </a:defRPr>
            </a:pPr>
            <a:r>
              <a:t>Per resource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36973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Microsoft Purview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36973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Data governance, lineage, classification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36973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8D4"/>
                </a:solidFill>
                <a:latin typeface="Segoe UI"/>
              </a:defRPr>
            </a:pPr>
            <a:r>
              <a:t>Per asset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64405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AI Content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64405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Harmful content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64405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8D4"/>
                </a:solidFill>
                <a:latin typeface="Segoe UI"/>
              </a:defRPr>
            </a:pPr>
            <a:r>
              <a:t>$1/1K requests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91837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Defender for APIs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391837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API security &amp; governance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91837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78D4"/>
                </a:solidFill>
                <a:latin typeface="Segoe UI"/>
              </a:defRPr>
            </a:pPr>
            <a:r>
              <a:t>Per resource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19269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  <a:latin typeface="Segoe UI"/>
              </a:defRPr>
            </a:pPr>
            <a:r>
              <a:t>Motions by Profile: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467013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GHAS Only → Add Defender CSPM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64985" y="4467013"/>
            <a:ext cx="914400" cy="219456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64985" y="4476157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P2 → L3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723045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Defender Only → Add GHAS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64985" y="4723045"/>
            <a:ext cx="914400" cy="219456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64985" y="473218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P2 → L3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4979077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Neither → Full DevSecOps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64985" y="4979077"/>
            <a:ext cx="914400" cy="219456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64985" y="498822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P2 → L2/L3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5235109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Foundry w/o Purview → AI Governance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64985" y="5235109"/>
            <a:ext cx="914400" cy="219456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264985" y="524425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P3 → L3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5491141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AI Apps in Prod → Full AI Safety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264985" y="5491141"/>
            <a:ext cx="914400" cy="219456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264985" y="550028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P3 → L4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11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71" name="Picture 70" descr="A black and yellow logo&#10;&#10;AI-generated content may be incorrect.">
            <a:extLst>
              <a:ext uri="{FF2B5EF4-FFF2-40B4-BE49-F238E27FC236}">
                <a16:creationId xmlns:a16="http://schemas.microsoft.com/office/drawing/2014/main" id="{ABF38922-FD62-D598-45C9-DCA186D40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E16CC6DA-23CE-9881-140D-40577DEC746F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FooterText">
            <a:extLst>
              <a:ext uri="{FF2B5EF4-FFF2-40B4-BE49-F238E27FC236}">
                <a16:creationId xmlns:a16="http://schemas.microsoft.com/office/drawing/2014/main" id="{E906000E-E266-E816-4876-36D0609804A4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BC46966-13AF-AF7C-F6FE-B707C0BC63A9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72" name="BottomBar1">
              <a:extLst>
                <a:ext uri="{FF2B5EF4-FFF2-40B4-BE49-F238E27FC236}">
                  <a16:creationId xmlns:a16="http://schemas.microsoft.com/office/drawing/2014/main" id="{EA94B685-95D1-CF8D-060B-8A93F3DE89FD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BottomBar2">
              <a:extLst>
                <a:ext uri="{FF2B5EF4-FFF2-40B4-BE49-F238E27FC236}">
                  <a16:creationId xmlns:a16="http://schemas.microsoft.com/office/drawing/2014/main" id="{BD533162-8C1B-69FE-CC90-C976EC0F9DF7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BottomBar3">
              <a:extLst>
                <a:ext uri="{FF2B5EF4-FFF2-40B4-BE49-F238E27FC236}">
                  <a16:creationId xmlns:a16="http://schemas.microsoft.com/office/drawing/2014/main" id="{4E32B895-C2D3-9EA9-A3F3-6978D996CE47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BottomBar4">
              <a:extLst>
                <a:ext uri="{FF2B5EF4-FFF2-40B4-BE49-F238E27FC236}">
                  <a16:creationId xmlns:a16="http://schemas.microsoft.com/office/drawing/2014/main" id="{8C6B933F-D7EF-6760-8B73-88725CEC4615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BottomBar5">
              <a:extLst>
                <a:ext uri="{FF2B5EF4-FFF2-40B4-BE49-F238E27FC236}">
                  <a16:creationId xmlns:a16="http://schemas.microsoft.com/office/drawing/2014/main" id="{06123C06-EE6B-6355-0B28-562B724ED473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9993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Strategy-Pillar-Capability Impact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388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Which capabilities are impacted by each strategy and expected level progression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16237"/>
            <a:ext cx="192024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53452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516237"/>
            <a:ext cx="21945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153452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P1 Capabilities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16237"/>
            <a:ext cx="246888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3452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P2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16237"/>
            <a:ext cx="26517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153452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P3 Capabilities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516237"/>
            <a:ext cx="201168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21240" y="1534525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Level Jump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81997"/>
            <a:ext cx="192024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86000" y="1881997"/>
            <a:ext cx="21945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1881997"/>
            <a:ext cx="24688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1881997"/>
            <a:ext cx="26517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75520" y="1881997"/>
            <a:ext cx="20116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" y="1973437"/>
            <a:ext cx="274320" cy="27432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197343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S1: GitHub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1973437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1.1, 1.3, 1.6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97343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2.1, 2.3, 2.9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197343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Foundation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97343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L0/L1 → L2/L3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84916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0" y="2384916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0" y="2384916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32320" y="2384916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75520" y="2384916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5760" y="2476356"/>
            <a:ext cx="274320" cy="274320"/>
          </a:xfrm>
          <a:prstGeom prst="ellipse">
            <a:avLst/>
          </a:prstGeom>
          <a:solidFill>
            <a:srgbClr val="866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24763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S2: Foundry + SRE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247635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1.1 (Agent), 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4763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2.6, 2.9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59" y="247635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3.3, 3.6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4763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L2 → L3/L4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87837"/>
            <a:ext cx="192024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86000" y="2887837"/>
            <a:ext cx="21945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0" y="2887837"/>
            <a:ext cx="24688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887837"/>
            <a:ext cx="26517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75520" y="2887837"/>
            <a:ext cx="20116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65760" y="2979277"/>
            <a:ext cx="274320" cy="27432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297927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S3: App Modernization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2979277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1.2, 1.7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297927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2.1, 2.7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59" y="297927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3.1, 3.2, 3.8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297927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L0/L1 → L2/L3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390757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286000" y="3390757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0" y="3390757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132320" y="3390757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875520" y="3390757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65760" y="3482197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348219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S4: AI Apps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3482197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48219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2.9 (indirect)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59" y="348219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3.3-3.7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348219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L1/L2 → L3/L4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893677"/>
            <a:ext cx="192024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286000" y="3893677"/>
            <a:ext cx="21945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72000" y="3893677"/>
            <a:ext cx="24688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132320" y="3893677"/>
            <a:ext cx="26517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875520" y="3893677"/>
            <a:ext cx="20116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65760" y="3985117"/>
            <a:ext cx="274320" cy="27432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" y="398511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S5: GHCP Acceleration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77440" y="3985117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1.1, 1.3, 1.6, 1.8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398511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2.9 (via PRU)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59" y="398511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398511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L1 → L2/L3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396597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286000" y="4396597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572000" y="4396597"/>
            <a:ext cx="2468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132320" y="4396597"/>
            <a:ext cx="2651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875520" y="4396597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65760" y="4488036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44880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S6: Agentic Activation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77440" y="448803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1.1, 1.4, 1.6, 1.8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3440" y="44880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2.9 (direct)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59" y="448803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Bridge to 3.6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66960" y="44880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L2 → L3/L4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4899517"/>
            <a:ext cx="192024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286000" y="4899517"/>
            <a:ext cx="21945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0" y="4899517"/>
            <a:ext cx="24688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132320" y="4899517"/>
            <a:ext cx="265176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875520" y="4899517"/>
            <a:ext cx="2011680" cy="47548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365760" y="4990956"/>
            <a:ext cx="274320" cy="274320"/>
          </a:xfrm>
          <a:prstGeom prst="ellipse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31520" y="49909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S7: Security &amp; Gov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77440" y="499095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3440" y="49909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2.3, 2.5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23759" y="499095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3.4, 3.7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66960" y="49909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L1 → L3, L2 → L4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4320" y="5501942"/>
            <a:ext cx="11612880" cy="54864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57200" y="5649264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Insight: S7 (Security) connects to ALL strategies. S1 → S5 → S6 is the Copilot journey. S2 → S4 is the AI Apps journey. S3 is the Platform foundation.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12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97" name="Picture 96" descr="A black and yellow logo&#10;&#10;AI-generated content may be incorrect.">
            <a:extLst>
              <a:ext uri="{FF2B5EF4-FFF2-40B4-BE49-F238E27FC236}">
                <a16:creationId xmlns:a16="http://schemas.microsoft.com/office/drawing/2014/main" id="{28751607-64D8-3D77-1527-9EF6DDE0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F9E167FA-160D-E833-910B-AEC46E21765B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FooterText">
            <a:extLst>
              <a:ext uri="{FF2B5EF4-FFF2-40B4-BE49-F238E27FC236}">
                <a16:creationId xmlns:a16="http://schemas.microsoft.com/office/drawing/2014/main" id="{A916166C-2772-FA50-DD8C-F06D68378E37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68FF2FD-B79D-FADD-696B-B8A3B88B12FB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98" name="BottomBar1">
              <a:extLst>
                <a:ext uri="{FF2B5EF4-FFF2-40B4-BE49-F238E27FC236}">
                  <a16:creationId xmlns:a16="http://schemas.microsoft.com/office/drawing/2014/main" id="{AA5ACABD-D2EF-A3CB-A500-8C16246E1BCA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BottomBar2">
              <a:extLst>
                <a:ext uri="{FF2B5EF4-FFF2-40B4-BE49-F238E27FC236}">
                  <a16:creationId xmlns:a16="http://schemas.microsoft.com/office/drawing/2014/main" id="{2529544A-1C6D-9500-4A0A-D14C01B45137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BottomBar3">
              <a:extLst>
                <a:ext uri="{FF2B5EF4-FFF2-40B4-BE49-F238E27FC236}">
                  <a16:creationId xmlns:a16="http://schemas.microsoft.com/office/drawing/2014/main" id="{28989005-67E2-F193-9BB7-0A5E007288D1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BottomBar4">
              <a:extLst>
                <a:ext uri="{FF2B5EF4-FFF2-40B4-BE49-F238E27FC236}">
                  <a16:creationId xmlns:a16="http://schemas.microsoft.com/office/drawing/2014/main" id="{5611647E-6BBB-5F20-6B93-9513A24455F8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BottomBar5">
              <a:extLst>
                <a:ext uri="{FF2B5EF4-FFF2-40B4-BE49-F238E27FC236}">
                  <a16:creationId xmlns:a16="http://schemas.microsoft.com/office/drawing/2014/main" id="{C6981644-26D1-E118-639C-AD2513BC0ADE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6828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Value Chains &amp; Strategy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37973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How strategies connect and enable each other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180500-264A-3C35-4C3A-CB5FA68C2938}"/>
              </a:ext>
            </a:extLst>
          </p:cNvPr>
          <p:cNvGrpSpPr/>
          <p:nvPr/>
        </p:nvGrpSpPr>
        <p:grpSpPr>
          <a:xfrm>
            <a:off x="274320" y="1322005"/>
            <a:ext cx="11612880" cy="2391771"/>
            <a:chOff x="274320" y="1322005"/>
            <a:chExt cx="11612880" cy="2391771"/>
          </a:xfrm>
        </p:grpSpPr>
        <p:sp>
          <p:nvSpPr>
            <p:cNvPr id="5" name="Rounded Rectangle 4"/>
            <p:cNvSpPr/>
            <p:nvPr/>
          </p:nvSpPr>
          <p:spPr>
            <a:xfrm>
              <a:off x="457200" y="1691943"/>
              <a:ext cx="1645920" cy="731520"/>
            </a:xfrm>
            <a:prstGeom prst="roundRect">
              <a:avLst/>
            </a:prstGeom>
            <a:solidFill>
              <a:srgbClr val="107C1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02920" y="1737663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2920" y="2011983"/>
              <a:ext cx="1554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t>GitHub Platform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194560" y="1874823"/>
              <a:ext cx="457200" cy="320040"/>
            </a:xfrm>
            <a:prstGeom prst="rightArrow">
              <a:avLst/>
            </a:prstGeom>
            <a:solidFill>
              <a:srgbClr val="E5E5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43200" y="1691943"/>
              <a:ext cx="1645920" cy="731520"/>
            </a:xfrm>
            <a:prstGeom prst="roundRect">
              <a:avLst/>
            </a:prstGeom>
            <a:solidFill>
              <a:srgbClr val="8661C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88920" y="1737663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88920" y="2011983"/>
              <a:ext cx="1554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t>Foundry + SRE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480560" y="1874823"/>
              <a:ext cx="457200" cy="320040"/>
            </a:xfrm>
            <a:prstGeom prst="rightArrow">
              <a:avLst/>
            </a:prstGeom>
            <a:solidFill>
              <a:srgbClr val="E5E5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029200" y="1691943"/>
              <a:ext cx="1645920" cy="731520"/>
            </a:xfrm>
            <a:prstGeom prst="roundRect">
              <a:avLst/>
            </a:prstGeom>
            <a:solidFill>
              <a:srgbClr val="007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74920" y="1737663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74920" y="2011983"/>
              <a:ext cx="1554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t>AI Apps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57200" y="2982256"/>
              <a:ext cx="1645920" cy="731520"/>
            </a:xfrm>
            <a:prstGeom prst="roundRect">
              <a:avLst/>
            </a:prstGeom>
            <a:solidFill>
              <a:srgbClr val="107C1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2920" y="3027976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2920" y="3302296"/>
              <a:ext cx="1554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t>GHEC Seats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2194560" y="3165136"/>
              <a:ext cx="457200" cy="320040"/>
            </a:xfrm>
            <a:prstGeom prst="rightArrow">
              <a:avLst/>
            </a:prstGeom>
            <a:solidFill>
              <a:srgbClr val="E5E5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743200" y="2982256"/>
              <a:ext cx="1645920" cy="731520"/>
            </a:xfrm>
            <a:prstGeom prst="roundRect">
              <a:avLst/>
            </a:prstGeom>
            <a:solidFill>
              <a:srgbClr val="D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88920" y="3027976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88920" y="3302296"/>
              <a:ext cx="1554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t>GHCP Expand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4480560" y="3165136"/>
              <a:ext cx="457200" cy="320040"/>
            </a:xfrm>
            <a:prstGeom prst="rightArrow">
              <a:avLst/>
            </a:prstGeom>
            <a:solidFill>
              <a:srgbClr val="E5E5E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029200" y="2982256"/>
              <a:ext cx="1645920" cy="731520"/>
            </a:xfrm>
            <a:prstGeom prst="roundRect">
              <a:avLst/>
            </a:prstGeom>
            <a:solidFill>
              <a:srgbClr val="FF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74920" y="3027976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S6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74920" y="3302296"/>
              <a:ext cx="1554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t>PRU &amp; Agents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6927919" y="2492497"/>
              <a:ext cx="640080" cy="457200"/>
            </a:xfrm>
            <a:prstGeom prst="rightArrow">
              <a:avLst/>
            </a:prstGeom>
            <a:solidFill>
              <a:srgbClr val="8661C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67938" y="2133305"/>
              <a:ext cx="109728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00" b="1">
                  <a:solidFill>
                    <a:srgbClr val="8661C5"/>
                  </a:solidFill>
                  <a:latin typeface="Segoe UI"/>
                </a:defRPr>
              </a:pPr>
              <a:r>
                <a:t>Bridge to</a:t>
              </a:r>
              <a:br>
                <a:rPr/>
              </a:br>
              <a:r>
                <a:t>Foundry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7828572" y="2240583"/>
              <a:ext cx="1645920" cy="731520"/>
            </a:xfrm>
            <a:prstGeom prst="round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874292" y="2286303"/>
              <a:ext cx="15544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323232"/>
                  </a:solidFill>
                  <a:latin typeface="Segoe UI"/>
                </a:defRPr>
              </a:pPr>
              <a:r>
                <a:t>S3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874292" y="2560623"/>
              <a:ext cx="1554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323232"/>
                  </a:solidFill>
                  <a:latin typeface="Segoe UI"/>
                </a:defRPr>
              </a:pPr>
              <a:r>
                <a:t>App Modern.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601200" y="2240583"/>
              <a:ext cx="2194560" cy="731520"/>
            </a:xfrm>
            <a:prstGeom prst="roundRect">
              <a:avLst/>
            </a:prstGeom>
            <a:solidFill>
              <a:srgbClr val="1B1B1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646920" y="2286303"/>
              <a:ext cx="21031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S7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46920" y="2560623"/>
              <a:ext cx="21031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0">
                  <a:solidFill>
                    <a:srgbClr val="FFFFFF"/>
                  </a:solidFill>
                  <a:latin typeface="Segoe UI"/>
                </a:defRPr>
              </a:pPr>
              <a:r>
                <a:t>Security &amp; Governance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1200" y="3063543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b="1">
                  <a:solidFill>
                    <a:srgbClr val="D13438"/>
                  </a:solidFill>
                  <a:latin typeface="Segoe UI"/>
                </a:defRPr>
              </a:pPr>
              <a:r>
                <a:t>Connects to ALL strategies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74320" y="1322005"/>
              <a:ext cx="64008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78D4"/>
                  </a:solidFill>
                  <a:latin typeface="Segoe UI"/>
                </a:defRPr>
              </a:pPr>
              <a:r>
                <a:t>Chain 1:  GitHub Platform → Foundry → AI Apps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4320" y="2616496"/>
              <a:ext cx="64008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D13438"/>
                  </a:solidFill>
                  <a:latin typeface="Segoe UI"/>
                </a:defRPr>
              </a:pPr>
              <a:r>
                <a:t>Chain 2:  GHEC Seats → Copilot Expansion → Agentic → Bridge to Foundry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74320" y="3886503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Key Dependencies &amp; Completion Requirements: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206543"/>
            <a:ext cx="2743200" cy="274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4224831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From → 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4206543"/>
            <a:ext cx="5486400" cy="274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39" y="4224831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Dependency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4206543"/>
            <a:ext cx="3383280" cy="274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9640" y="422483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Completion Required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526583"/>
            <a:ext cx="274320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017520" y="4526583"/>
            <a:ext cx="548640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503920" y="4526583"/>
            <a:ext cx="338328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4535727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Segoe UI"/>
              </a:defRPr>
            </a:pPr>
            <a:r>
              <a:t>S1 → S2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4535727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GitHub platform enables GHAS + Defender integration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535727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7C10"/>
                </a:solidFill>
                <a:latin typeface="Segoe UI"/>
              </a:defRPr>
            </a:pPr>
            <a:r>
              <a:t>100% repos migrated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782615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17520" y="4782615"/>
            <a:ext cx="54864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503920" y="4782615"/>
            <a:ext cx="338328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4791759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Segoe UI"/>
              </a:defRPr>
            </a:pPr>
            <a:r>
              <a:t>S1 → S5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3240" y="4791759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ADO migration lands GHEC → enables GHCP expansion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791759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7C10"/>
                </a:solidFill>
                <a:latin typeface="Segoe UI"/>
              </a:defRPr>
            </a:pPr>
            <a:r>
              <a:t>90% seats converted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038646"/>
            <a:ext cx="274320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017520" y="5038646"/>
            <a:ext cx="548640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503920" y="5038646"/>
            <a:ext cx="338328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0040" y="504779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Segoe UI"/>
              </a:defRPr>
            </a:pPr>
            <a:r>
              <a:t>S5 → S6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63240" y="504779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GHCP seats become base for Agentic Activation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504779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7C10"/>
                </a:solidFill>
                <a:latin typeface="Segoe UI"/>
              </a:defRPr>
            </a:pPr>
            <a:r>
              <a:t>50% active users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294679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017520" y="5294679"/>
            <a:ext cx="54864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503920" y="5294679"/>
            <a:ext cx="338328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0040" y="530382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Segoe UI"/>
              </a:defRPr>
            </a:pPr>
            <a:r>
              <a:t>S6 → S2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3240" y="530382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PRU/Agent HQ enables Foundry Agent Service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530382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7C10"/>
                </a:solidFill>
                <a:latin typeface="Segoe UI"/>
              </a:defRPr>
            </a:pPr>
            <a:r>
              <a:t>Agent HQ activated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550711"/>
            <a:ext cx="274320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017520" y="5550711"/>
            <a:ext cx="548640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503920" y="5550711"/>
            <a:ext cx="3383280" cy="23774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0040" y="5559855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Segoe UI"/>
              </a:defRPr>
            </a:pPr>
            <a:r>
              <a:t>S2 → S4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63240" y="5559855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Foundry integration enables AI Apps development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9640" y="5559855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7C10"/>
                </a:solidFill>
                <a:latin typeface="Segoe UI"/>
              </a:defRPr>
            </a:pPr>
            <a:r>
              <a:t>Foundry ACR &gt; 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806743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017520" y="5806743"/>
            <a:ext cx="54864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503920" y="5806743"/>
            <a:ext cx="338328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0040" y="5815887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  <a:latin typeface="Segoe UI"/>
              </a:defRPr>
            </a:pPr>
            <a:r>
              <a:t>S7 → ALL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3240" y="5815887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Security posture enables compliant operations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9640" y="5815887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7C10"/>
                </a:solidFill>
                <a:latin typeface="Segoe UI"/>
              </a:defRPr>
            </a:pPr>
            <a:r>
              <a:t>GHAS 50%+ committers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13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84" name="Picture 83" descr="A black and yellow logo&#10;&#10;AI-generated content may be incorrect.">
            <a:extLst>
              <a:ext uri="{FF2B5EF4-FFF2-40B4-BE49-F238E27FC236}">
                <a16:creationId xmlns:a16="http://schemas.microsoft.com/office/drawing/2014/main" id="{13857624-3550-ADCD-10F6-98F1B6BD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82" name="FooterDiv">
            <a:extLst>
              <a:ext uri="{FF2B5EF4-FFF2-40B4-BE49-F238E27FC236}">
                <a16:creationId xmlns:a16="http://schemas.microsoft.com/office/drawing/2014/main" id="{2E8DCD0F-514F-777E-5261-1309873192F0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FooterText">
            <a:extLst>
              <a:ext uri="{FF2B5EF4-FFF2-40B4-BE49-F238E27FC236}">
                <a16:creationId xmlns:a16="http://schemas.microsoft.com/office/drawing/2014/main" id="{3C487CE8-8F97-3D82-1A16-0634FF588DCE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35354DB-1717-3C4F-86AA-9F662DCB62EA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86" name="BottomBar1">
              <a:extLst>
                <a:ext uri="{FF2B5EF4-FFF2-40B4-BE49-F238E27FC236}">
                  <a16:creationId xmlns:a16="http://schemas.microsoft.com/office/drawing/2014/main" id="{6615DB6C-B0A8-3EF9-FDBA-0B8B190A1CE1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BottomBar2">
              <a:extLst>
                <a:ext uri="{FF2B5EF4-FFF2-40B4-BE49-F238E27FC236}">
                  <a16:creationId xmlns:a16="http://schemas.microsoft.com/office/drawing/2014/main" id="{465368E1-F1CD-5C43-B569-77DF0DDE74B0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BottomBar3">
              <a:extLst>
                <a:ext uri="{FF2B5EF4-FFF2-40B4-BE49-F238E27FC236}">
                  <a16:creationId xmlns:a16="http://schemas.microsoft.com/office/drawing/2014/main" id="{C41A6BDB-DC1A-118A-6270-A8FE24B3164C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BottomBar4">
              <a:extLst>
                <a:ext uri="{FF2B5EF4-FFF2-40B4-BE49-F238E27FC236}">
                  <a16:creationId xmlns:a16="http://schemas.microsoft.com/office/drawing/2014/main" id="{F2543D14-1739-F559-8FCA-946154919ECD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BottomBar5">
              <a:extLst>
                <a:ext uri="{FF2B5EF4-FFF2-40B4-BE49-F238E27FC236}">
                  <a16:creationId xmlns:a16="http://schemas.microsoft.com/office/drawing/2014/main" id="{45A23742-264D-E81F-8EC4-1144293F8FA1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1766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Strategy Selection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189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How to determine which strategy to start with for any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5184"/>
            <a:ext cx="3200400" cy="5943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7833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Is ADO Seats &gt; GHEC x2?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80218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04040"/>
                </a:solidFill>
                <a:latin typeface="Segoe UI"/>
              </a:defRPr>
            </a:pPr>
            <a:r>
              <a:rPr sz="900">
                <a:solidFill>
                  <a:srgbClr val="FF0000"/>
                </a:solidFill>
              </a:rPr>
              <a:t>NO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2560"/>
            <a:ext cx="3200400" cy="5943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457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Is GHCP Whitespace &gt; 1,000?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35643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04040"/>
                </a:solidFill>
                <a:latin typeface="Segoe UI"/>
              </a:defRPr>
            </a:pPr>
            <a:r>
              <a:rPr sz="900">
                <a:solidFill>
                  <a:srgbClr val="FF0000"/>
                </a:solidFill>
              </a:rPr>
              <a:t>NO 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27984"/>
            <a:ext cx="3200400" cy="5943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0113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Has GHCP but PRU/1K &lt; 10?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697043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04040"/>
                </a:solidFill>
                <a:latin typeface="Segoe UI"/>
              </a:defRPr>
            </a:pPr>
            <a:r>
              <a:rPr sz="900">
                <a:solidFill>
                  <a:srgbClr val="FF0000"/>
                </a:solidFill>
              </a:rPr>
              <a:t>NO 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71456"/>
            <a:ext cx="3200400" cy="5943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944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Security gap? (GHAS/Defender</a:t>
            </a:r>
            <a:br>
              <a:rPr/>
            </a:br>
            <a:r>
              <a:t>or Foundry w/o Purview)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46492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04040"/>
                </a:solidFill>
                <a:latin typeface="Segoe UI"/>
              </a:defRPr>
            </a:pPr>
            <a:r>
              <a:rPr sz="900">
                <a:solidFill>
                  <a:srgbClr val="FF0000"/>
                </a:solidFill>
              </a:rPr>
              <a:t>NO 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4809"/>
            <a:ext cx="3200400" cy="5943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471796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Foundry ACR &gt; 0 or</a:t>
            </a:r>
            <a:br/>
            <a:r>
              <a:t>Agent Flag = 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231798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04040"/>
                </a:solidFill>
                <a:latin typeface="Segoe UI"/>
              </a:defRPr>
            </a:pPr>
            <a:r>
              <a:rPr sz="900">
                <a:solidFill>
                  <a:srgbClr val="FF0000"/>
                </a:solidFill>
              </a:rPr>
              <a:t>NO 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18162"/>
            <a:ext cx="3200400" cy="5943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549131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ModernizeApps &gt; 70?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ED10C5D-CC37-9ED8-6296-4FDB8F1201DA}"/>
              </a:ext>
            </a:extLst>
          </p:cNvPr>
          <p:cNvGrpSpPr/>
          <p:nvPr/>
        </p:nvGrpSpPr>
        <p:grpSpPr>
          <a:xfrm>
            <a:off x="3749039" y="1664944"/>
            <a:ext cx="2743201" cy="4251960"/>
            <a:chOff x="3749039" y="1718730"/>
            <a:chExt cx="2743201" cy="4251960"/>
          </a:xfrm>
        </p:grpSpPr>
        <p:sp>
          <p:nvSpPr>
            <p:cNvPr id="7" name="Right Arrow 6"/>
            <p:cNvSpPr/>
            <p:nvPr/>
          </p:nvSpPr>
          <p:spPr>
            <a:xfrm>
              <a:off x="3749039" y="1855890"/>
              <a:ext cx="365760" cy="274320"/>
            </a:xfrm>
            <a:prstGeom prst="rightArrow">
              <a:avLst/>
            </a:prstGeom>
            <a:solidFill>
              <a:srgbClr val="107C1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06240" y="1718730"/>
              <a:ext cx="2286000" cy="594360"/>
            </a:xfrm>
            <a:prstGeom prst="roundRect">
              <a:avLst/>
            </a:prstGeom>
            <a:solidFill>
              <a:srgbClr val="107C1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97680" y="1791882"/>
              <a:ext cx="2103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t>YES → Start with S1</a:t>
              </a:r>
              <a:br/>
              <a:r>
                <a:t>(GitHub Migration)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3749039" y="2587409"/>
              <a:ext cx="365760" cy="274320"/>
            </a:xfrm>
            <a:prstGeom prst="rightArrow">
              <a:avLst/>
            </a:prstGeom>
            <a:solidFill>
              <a:srgbClr val="D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206240" y="2450250"/>
              <a:ext cx="2286000" cy="594360"/>
            </a:xfrm>
            <a:prstGeom prst="roundRect">
              <a:avLst/>
            </a:prstGeom>
            <a:solidFill>
              <a:srgbClr val="D1343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97680" y="2523402"/>
              <a:ext cx="2103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t>YES → Prioritize S5</a:t>
              </a:r>
              <a:br/>
              <a:r>
                <a:t>(GHCP Acceleration)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3749039" y="3318930"/>
              <a:ext cx="365760" cy="274320"/>
            </a:xfrm>
            <a:prstGeom prst="rightArrow">
              <a:avLst/>
            </a:prstGeom>
            <a:solidFill>
              <a:srgbClr val="FF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206240" y="3181770"/>
              <a:ext cx="2286000" cy="594360"/>
            </a:xfrm>
            <a:prstGeom prst="roundRect">
              <a:avLst/>
            </a:prstGeom>
            <a:solidFill>
              <a:srgbClr val="FF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97680" y="3254922"/>
              <a:ext cx="2103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t>YES → Focus on S6</a:t>
              </a:r>
              <a:br/>
              <a:r>
                <a:t>(Agentic Activation)</a:t>
              </a:r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3749039" y="4050450"/>
              <a:ext cx="365760" cy="274320"/>
            </a:xfrm>
            <a:prstGeom prst="rightArrow">
              <a:avLst/>
            </a:prstGeom>
            <a:solidFill>
              <a:srgbClr val="1B1B1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06240" y="3913290"/>
              <a:ext cx="2286000" cy="594360"/>
            </a:xfrm>
            <a:prstGeom prst="roundRect">
              <a:avLst/>
            </a:prstGeom>
            <a:solidFill>
              <a:srgbClr val="1B1B1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297680" y="3986442"/>
              <a:ext cx="2103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t>YES → Prioritize S7</a:t>
              </a:r>
              <a:br/>
              <a:r>
                <a:t>(Security &amp; Governance)</a:t>
              </a:r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3749039" y="4781970"/>
              <a:ext cx="365760" cy="274320"/>
            </a:xfrm>
            <a:prstGeom prst="rightArrow">
              <a:avLst/>
            </a:prstGeom>
            <a:solidFill>
              <a:srgbClr val="8661C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206240" y="4644810"/>
              <a:ext cx="2286000" cy="594360"/>
            </a:xfrm>
            <a:prstGeom prst="roundRect">
              <a:avLst/>
            </a:prstGeom>
            <a:solidFill>
              <a:srgbClr val="8661C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97680" y="4717962"/>
              <a:ext cx="2103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t>YES → Focus on S2</a:t>
              </a:r>
              <a:br/>
              <a:r>
                <a:t>(Foundry + SRE)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3749039" y="5513490"/>
              <a:ext cx="365760" cy="274320"/>
            </a:xfrm>
            <a:prstGeom prst="rightArrow">
              <a:avLst/>
            </a:prstGeom>
            <a:solidFill>
              <a:srgbClr val="FFB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206240" y="5376330"/>
              <a:ext cx="2286000" cy="594360"/>
            </a:xfrm>
            <a:prstGeom prst="round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297680" y="5449482"/>
              <a:ext cx="2103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FFFFF"/>
                  </a:solidFill>
                  <a:latin typeface="Segoe UI"/>
                </a:defRPr>
              </a:pPr>
              <a:r>
                <a:t>YES → Drive S3</a:t>
              </a:r>
              <a:br/>
              <a:r>
                <a:t>(App Modernization)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3521345-4208-FA3C-0ED4-B912079AF261}"/>
              </a:ext>
            </a:extLst>
          </p:cNvPr>
          <p:cNvGrpSpPr/>
          <p:nvPr/>
        </p:nvGrpSpPr>
        <p:grpSpPr>
          <a:xfrm>
            <a:off x="6858000" y="1664944"/>
            <a:ext cx="5029200" cy="3931920"/>
            <a:chOff x="6858000" y="1718730"/>
            <a:chExt cx="5029200" cy="3931920"/>
          </a:xfrm>
        </p:grpSpPr>
        <p:sp>
          <p:nvSpPr>
            <p:cNvPr id="40" name="TextBox 39"/>
            <p:cNvSpPr txBox="1"/>
            <p:nvPr/>
          </p:nvSpPr>
          <p:spPr>
            <a:xfrm>
              <a:off x="6858000" y="1718730"/>
              <a:ext cx="50292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0078D4"/>
                  </a:solidFill>
                  <a:latin typeface="Segoe UI"/>
                </a:defRPr>
              </a:pPr>
              <a:r>
                <a:t>Key Principles: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858000" y="2175930"/>
              <a:ext cx="4846320" cy="320040"/>
            </a:xfrm>
            <a:prstGeom prst="round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40880" y="2203362"/>
              <a:ext cx="4572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  Multiple strategies can run in parallel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858000" y="2541690"/>
              <a:ext cx="4846320" cy="32004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040880" y="2569121"/>
              <a:ext cx="4572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  S7 (Security) applies to EVERY account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858000" y="2907450"/>
              <a:ext cx="4846320" cy="320040"/>
            </a:xfrm>
            <a:prstGeom prst="round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40880" y="2934881"/>
              <a:ext cx="4572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  S1 is the most common starting point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6858000" y="3273210"/>
              <a:ext cx="4846320" cy="32004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040880" y="3300642"/>
              <a:ext cx="4572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  S5 + S6 run together for Copilot accounts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858000" y="3638969"/>
              <a:ext cx="4846320" cy="320040"/>
            </a:xfrm>
            <a:prstGeom prst="round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40880" y="3666402"/>
              <a:ext cx="4572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  S4 requires S2 or S3 progress first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858000" y="4004730"/>
              <a:ext cx="4846320" cy="32004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40880" y="4032162"/>
              <a:ext cx="4572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  S6 is the BRIDGE from Copilot to Foundry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6858000" y="4370490"/>
              <a:ext cx="4846320" cy="320040"/>
            </a:xfrm>
            <a:prstGeom prst="round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040880" y="4397922"/>
              <a:ext cx="4572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  Value chains drive natural sequencing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6858000" y="4827690"/>
              <a:ext cx="4846320" cy="365760"/>
            </a:xfrm>
            <a:prstGeom prst="round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040880" y="485512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78D4"/>
                  </a:solidFill>
                  <a:latin typeface="Segoe UI"/>
                </a:defRPr>
              </a:pPr>
              <a:r>
                <a:t>Has S2/S3 Progress? → Enable S4 (AI Apps Development)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6858000" y="5284890"/>
              <a:ext cx="4846320" cy="365760"/>
            </a:xfrm>
            <a:prstGeom prst="roundRect">
              <a:avLst/>
            </a:prstGeom>
            <a:solidFill>
              <a:srgbClr val="FF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040880" y="531232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D13438"/>
                  </a:solidFill>
                  <a:latin typeface="Segoe UI"/>
                </a:defRPr>
              </a:pPr>
              <a:r>
                <a:t>No progress? → Start with S1 or S5 foundation first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14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62" name="Picture 61" descr="A black and yellow logo&#10;&#10;AI-generated content may be incorrect.">
            <a:extLst>
              <a:ext uri="{FF2B5EF4-FFF2-40B4-BE49-F238E27FC236}">
                <a16:creationId xmlns:a16="http://schemas.microsoft.com/office/drawing/2014/main" id="{641DD124-D954-5FE9-855D-3FB17FE8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63" name="FooterDiv">
            <a:extLst>
              <a:ext uri="{FF2B5EF4-FFF2-40B4-BE49-F238E27FC236}">
                <a16:creationId xmlns:a16="http://schemas.microsoft.com/office/drawing/2014/main" id="{079B0272-A41E-AB3E-071A-C9B76E295E4B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FooterText">
            <a:extLst>
              <a:ext uri="{FF2B5EF4-FFF2-40B4-BE49-F238E27FC236}">
                <a16:creationId xmlns:a16="http://schemas.microsoft.com/office/drawing/2014/main" id="{88037D60-99EB-9162-EAEE-D98493A8F250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D1059A8-15E2-52F2-EEE5-E8BFD5069AD8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64" name="BottomBar1">
              <a:extLst>
                <a:ext uri="{FF2B5EF4-FFF2-40B4-BE49-F238E27FC236}">
                  <a16:creationId xmlns:a16="http://schemas.microsoft.com/office/drawing/2014/main" id="{DD9A58B2-234E-26DE-0CB8-F724ADD3A64A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BottomBar2">
              <a:extLst>
                <a:ext uri="{FF2B5EF4-FFF2-40B4-BE49-F238E27FC236}">
                  <a16:creationId xmlns:a16="http://schemas.microsoft.com/office/drawing/2014/main" id="{330ADEF6-819E-B521-2CBA-DB985AC578A6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BottomBar3">
              <a:extLst>
                <a:ext uri="{FF2B5EF4-FFF2-40B4-BE49-F238E27FC236}">
                  <a16:creationId xmlns:a16="http://schemas.microsoft.com/office/drawing/2014/main" id="{700A35E7-8618-93D4-1086-15DEF763F6C2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BottomBar4">
              <a:extLst>
                <a:ext uri="{FF2B5EF4-FFF2-40B4-BE49-F238E27FC236}">
                  <a16:creationId xmlns:a16="http://schemas.microsoft.com/office/drawing/2014/main" id="{2C6895CB-52CF-C431-4B1C-0B4BE5D14277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BottomBar5">
              <a:extLst>
                <a:ext uri="{FF2B5EF4-FFF2-40B4-BE49-F238E27FC236}">
                  <a16:creationId xmlns:a16="http://schemas.microsoft.com/office/drawing/2014/main" id="{BC285F12-6F99-1461-B183-E70A63FA9AB9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81628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</a:t>
            </a:r>
            <a:r>
              <a:rPr lang="en-US"/>
              <a:t>3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Engagement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How We Identify, Qualify, and Nominate Accounts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5183F-BCD1-A87A-342D-EF709BC4DB24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A00DC3CC-2984-BDED-74D4-C4759F61C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8E90-FCCB-ADE6-2684-FFCCAE11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67901-8FCB-E479-7C83-E863F7FDD1F9}"/>
              </a:ext>
            </a:extLst>
          </p:cNvPr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End-to-End Engagement Flow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E3A14A-9C16-1513-88BA-9B7559F637EB}"/>
              </a:ext>
            </a:extLst>
          </p:cNvPr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16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81" name="Picture 80" descr="A black and yellow logo&#10;&#10;AI-generated content may be incorrect.">
            <a:extLst>
              <a:ext uri="{FF2B5EF4-FFF2-40B4-BE49-F238E27FC236}">
                <a16:creationId xmlns:a16="http://schemas.microsoft.com/office/drawing/2014/main" id="{5A248331-9330-7BF0-ED22-51C2BF838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199BECE4-019D-6B36-B8CF-FFBE3EFE08F2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Text">
            <a:extLst>
              <a:ext uri="{FF2B5EF4-FFF2-40B4-BE49-F238E27FC236}">
                <a16:creationId xmlns:a16="http://schemas.microsoft.com/office/drawing/2014/main" id="{D105BA98-39FA-3C0B-7DD5-9719060CBE8B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sp>
        <p:nvSpPr>
          <p:cNvPr id="300" name="Phase0"/>
          <p:cNvSpPr/>
          <p:nvPr/>
        </p:nvSpPr>
        <p:spPr>
          <a:xfrm>
            <a:off x="457200" y="1524000"/>
            <a:ext cx="1447800" cy="1016000"/>
          </a:xfrm>
          <a:prstGeom prst="chevron">
            <a:avLst>
              <a:gd name="adj" fmla="val 25000"/>
            </a:avLst>
          </a:prstGeom>
          <a:solidFill>
            <a:srgbClr val="0078D4"/>
          </a:solidFill>
          <a:ln w="0">
            <a:noFill/>
          </a:ln>
        </p:spPr>
        <p:txBody>
          <a:bodyPr wrap="square" lIns="72000" tIns="18000" rIns="36000" bIns="1800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/>
              </a:rPr>
              <a:t>QUALIFICATION &amp; NOMINATION</a:t>
            </a:r>
          </a:p>
        </p:txBody>
      </p:sp>
      <p:sp>
        <p:nvSpPr>
          <p:cNvPr id="301" name="Sub0"/>
          <p:cNvSpPr/>
          <p:nvPr/>
        </p:nvSpPr>
        <p:spPr>
          <a:xfrm>
            <a:off x="457200" y="2641600"/>
            <a:ext cx="144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404040"/>
                </a:solidFill>
                <a:latin typeface="Segoe UI"/>
              </a:rPr>
              <a:t>ATU / STU / Partner</a:t>
            </a:r>
          </a:p>
        </p:txBody>
      </p:sp>
      <p:sp>
        <p:nvSpPr>
          <p:cNvPr id="302" name="Phase1"/>
          <p:cNvSpPr/>
          <p:nvPr/>
        </p:nvSpPr>
        <p:spPr>
          <a:xfrm>
            <a:off x="2006600" y="1524000"/>
            <a:ext cx="1447800" cy="1016000"/>
          </a:xfrm>
          <a:prstGeom prst="chevron">
            <a:avLst>
              <a:gd name="adj" fmla="val 25000"/>
            </a:avLst>
          </a:prstGeom>
          <a:solidFill>
            <a:srgbClr val="005A9E"/>
          </a:solidFill>
          <a:ln w="0">
            <a:noFill/>
          </a:ln>
        </p:spPr>
        <p:txBody>
          <a:bodyPr wrap="square" lIns="72000" tIns="18000" rIns="36000" bIns="1800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/>
              </a:rPr>
              <a:t>OU ENTERPRISE APPROVAL</a:t>
            </a:r>
          </a:p>
        </p:txBody>
      </p:sp>
      <p:sp>
        <p:nvSpPr>
          <p:cNvPr id="303" name="Sub1"/>
          <p:cNvSpPr/>
          <p:nvPr/>
        </p:nvSpPr>
        <p:spPr>
          <a:xfrm>
            <a:off x="2006600" y="2641600"/>
            <a:ext cx="144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404040"/>
                </a:solidFill>
                <a:latin typeface="Segoe UI"/>
              </a:rPr>
              <a:t>EOU Approval Required</a:t>
            </a:r>
          </a:p>
        </p:txBody>
      </p:sp>
      <p:sp>
        <p:nvSpPr>
          <p:cNvPr id="304" name="Phase2"/>
          <p:cNvSpPr/>
          <p:nvPr/>
        </p:nvSpPr>
        <p:spPr>
          <a:xfrm>
            <a:off x="3556000" y="1524000"/>
            <a:ext cx="1447800" cy="1016000"/>
          </a:xfrm>
          <a:prstGeom prst="chevron">
            <a:avLst>
              <a:gd name="adj" fmla="val 25000"/>
            </a:avLst>
          </a:prstGeom>
          <a:solidFill>
            <a:srgbClr val="0D47A1"/>
          </a:solidFill>
          <a:ln w="0">
            <a:noFill/>
          </a:ln>
        </p:spPr>
        <p:txBody>
          <a:bodyPr wrap="square" lIns="72000" tIns="18000" rIns="36000" bIns="1800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/>
              </a:rPr>
              <a:t>ASSESS</a:t>
            </a:r>
          </a:p>
        </p:txBody>
      </p:sp>
      <p:sp>
        <p:nvSpPr>
          <p:cNvPr id="305" name="Badge2"/>
          <p:cNvSpPr/>
          <p:nvPr/>
        </p:nvSpPr>
        <p:spPr>
          <a:xfrm>
            <a:off x="4787900" y="13970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47A1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100" b="1">
                <a:solidFill>
                  <a:srgbClr val="0D47A1"/>
                </a:solidFill>
                <a:latin typeface="Segoe UI"/>
              </a:rPr>
              <a:t>1</a:t>
            </a:r>
          </a:p>
        </p:txBody>
      </p:sp>
      <p:sp>
        <p:nvSpPr>
          <p:cNvPr id="306" name="Sub2"/>
          <p:cNvSpPr/>
          <p:nvPr/>
        </p:nvSpPr>
        <p:spPr>
          <a:xfrm>
            <a:off x="3556000" y="2641600"/>
            <a:ext cx="144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404040"/>
                </a:solidFill>
                <a:latin typeface="Segoe UI"/>
              </a:rPr>
              <a:t>6-Session Discovery</a:t>
            </a:r>
          </a:p>
        </p:txBody>
      </p:sp>
      <p:sp>
        <p:nvSpPr>
          <p:cNvPr id="307" name="Phase3"/>
          <p:cNvSpPr/>
          <p:nvPr/>
        </p:nvSpPr>
        <p:spPr>
          <a:xfrm>
            <a:off x="5105400" y="1524000"/>
            <a:ext cx="1447800" cy="1016000"/>
          </a:xfrm>
          <a:prstGeom prst="chevron">
            <a:avLst>
              <a:gd name="adj" fmla="val 25000"/>
            </a:avLst>
          </a:prstGeom>
          <a:solidFill>
            <a:srgbClr val="1B5E20"/>
          </a:solidFill>
          <a:ln w="0">
            <a:noFill/>
          </a:ln>
        </p:spPr>
        <p:txBody>
          <a:bodyPr wrap="square" lIns="72000" tIns="18000" rIns="36000" bIns="1800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/>
              </a:rPr>
              <a:t>REPORT</a:t>
            </a:r>
          </a:p>
        </p:txBody>
      </p:sp>
      <p:sp>
        <p:nvSpPr>
          <p:cNvPr id="308" name="Badge3"/>
          <p:cNvSpPr/>
          <p:nvPr/>
        </p:nvSpPr>
        <p:spPr>
          <a:xfrm>
            <a:off x="6337300" y="13970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100" b="1">
                <a:solidFill>
                  <a:srgbClr val="1B5E20"/>
                </a:solidFill>
                <a:latin typeface="Segoe UI"/>
              </a:rPr>
              <a:t>2</a:t>
            </a:r>
          </a:p>
        </p:txBody>
      </p:sp>
      <p:sp>
        <p:nvSpPr>
          <p:cNvPr id="309" name="Sub3"/>
          <p:cNvSpPr/>
          <p:nvPr/>
        </p:nvSpPr>
        <p:spPr>
          <a:xfrm>
            <a:off x="5105400" y="2641600"/>
            <a:ext cx="144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404040"/>
                </a:solidFill>
                <a:latin typeface="Segoe UI"/>
              </a:rPr>
              <a:t>Assessment Report</a:t>
            </a:r>
          </a:p>
        </p:txBody>
      </p:sp>
      <p:sp>
        <p:nvSpPr>
          <p:cNvPr id="310" name="Phase4"/>
          <p:cNvSpPr/>
          <p:nvPr/>
        </p:nvSpPr>
        <p:spPr>
          <a:xfrm>
            <a:off x="6851650" y="1440070"/>
            <a:ext cx="1054100" cy="1099930"/>
          </a:xfrm>
          <a:prstGeom prst="diamond">
            <a:avLst/>
          </a:prstGeom>
          <a:solidFill>
            <a:srgbClr val="FF8C00"/>
          </a:solidFill>
          <a:ln w="0">
            <a:noFill/>
          </a:ln>
        </p:spPr>
        <p:txBody>
          <a:bodyPr wrap="square" lIns="18000" tIns="18000" rIns="18000" bIns="18000" anchor="ctr"/>
          <a:lstStyle/>
          <a:p>
            <a:pPr algn="ctr"/>
            <a:r>
              <a:rPr lang="en-US" sz="600" b="1">
                <a:solidFill>
                  <a:srgbClr val="FFFFFF"/>
                </a:solidFill>
                <a:latin typeface="Segoe UI"/>
              </a:rPr>
              <a:t>CUSTOMER VALIDATION</a:t>
            </a:r>
          </a:p>
        </p:txBody>
      </p:sp>
      <p:sp>
        <p:nvSpPr>
          <p:cNvPr id="311" name="Sub4"/>
          <p:cNvSpPr/>
          <p:nvPr/>
        </p:nvSpPr>
        <p:spPr>
          <a:xfrm>
            <a:off x="6654800" y="2640249"/>
            <a:ext cx="144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404040"/>
                </a:solidFill>
                <a:latin typeface="Segoe UI"/>
              </a:rPr>
              <a:t>Customer validates report</a:t>
            </a:r>
          </a:p>
        </p:txBody>
      </p:sp>
      <p:sp>
        <p:nvSpPr>
          <p:cNvPr id="312" name="Phase5"/>
          <p:cNvSpPr/>
          <p:nvPr/>
        </p:nvSpPr>
        <p:spPr>
          <a:xfrm>
            <a:off x="8204200" y="1524000"/>
            <a:ext cx="1447800" cy="1016000"/>
          </a:xfrm>
          <a:prstGeom prst="chevron">
            <a:avLst>
              <a:gd name="adj" fmla="val 25000"/>
            </a:avLst>
          </a:prstGeom>
          <a:solidFill>
            <a:srgbClr val="E65100"/>
          </a:solidFill>
          <a:ln w="0">
            <a:noFill/>
          </a:ln>
        </p:spPr>
        <p:txBody>
          <a:bodyPr wrap="square" lIns="72000" tIns="18000" rIns="36000" bIns="1800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313" name="Badge5"/>
          <p:cNvSpPr/>
          <p:nvPr/>
        </p:nvSpPr>
        <p:spPr>
          <a:xfrm>
            <a:off x="9436100" y="13970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100" b="1">
                <a:solidFill>
                  <a:srgbClr val="E65100"/>
                </a:solidFill>
                <a:latin typeface="Segoe UI"/>
              </a:rPr>
              <a:t>3</a:t>
            </a:r>
          </a:p>
        </p:txBody>
      </p:sp>
      <p:sp>
        <p:nvSpPr>
          <p:cNvPr id="314" name="Sub5"/>
          <p:cNvSpPr/>
          <p:nvPr/>
        </p:nvSpPr>
        <p:spPr>
          <a:xfrm>
            <a:off x="8204200" y="2641600"/>
            <a:ext cx="144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404040"/>
                </a:solidFill>
                <a:latin typeface="Segoe UI"/>
              </a:rPr>
              <a:t>4 Transformation Roadmaps</a:t>
            </a:r>
          </a:p>
        </p:txBody>
      </p:sp>
      <p:sp>
        <p:nvSpPr>
          <p:cNvPr id="315" name="Phase6"/>
          <p:cNvSpPr/>
          <p:nvPr/>
        </p:nvSpPr>
        <p:spPr>
          <a:xfrm>
            <a:off x="9753600" y="1524000"/>
            <a:ext cx="1447800" cy="1016000"/>
          </a:xfrm>
          <a:prstGeom prst="chevron">
            <a:avLst>
              <a:gd name="adj" fmla="val 25000"/>
            </a:avLst>
          </a:prstGeom>
          <a:solidFill>
            <a:srgbClr val="D13438"/>
          </a:solidFill>
          <a:ln w="0">
            <a:noFill/>
          </a:ln>
        </p:spPr>
        <p:txBody>
          <a:bodyPr wrap="square" lIns="72000" tIns="18000" rIns="36000" bIns="1800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/>
              </a:rPr>
              <a:t>EXECUTE</a:t>
            </a:r>
          </a:p>
        </p:txBody>
      </p:sp>
      <p:sp>
        <p:nvSpPr>
          <p:cNvPr id="316" name="Badge6"/>
          <p:cNvSpPr/>
          <p:nvPr/>
        </p:nvSpPr>
        <p:spPr>
          <a:xfrm>
            <a:off x="10985500" y="13970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3438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100" b="1">
                <a:solidFill>
                  <a:srgbClr val="D13438"/>
                </a:solidFill>
                <a:latin typeface="Segoe UI"/>
              </a:rPr>
              <a:t>4</a:t>
            </a:r>
          </a:p>
        </p:txBody>
      </p:sp>
      <p:sp>
        <p:nvSpPr>
          <p:cNvPr id="317" name="Sub6"/>
          <p:cNvSpPr/>
          <p:nvPr/>
        </p:nvSpPr>
        <p:spPr>
          <a:xfrm>
            <a:off x="9753600" y="2641600"/>
            <a:ext cx="144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>
                <a:solidFill>
                  <a:srgbClr val="404040"/>
                </a:solidFill>
                <a:latin typeface="Segoe UI"/>
              </a:rPr>
              <a:t>Quick Wins to 36-month</a:t>
            </a:r>
          </a:p>
        </p:txBody>
      </p:sp>
      <p:sp>
        <p:nvSpPr>
          <p:cNvPr id="318" name="PhaseBarINTAKE"/>
          <p:cNvSpPr/>
          <p:nvPr/>
        </p:nvSpPr>
        <p:spPr>
          <a:xfrm>
            <a:off x="457200" y="3200400"/>
            <a:ext cx="2997200" cy="50800"/>
          </a:xfrm>
          <a:prstGeom prst="rect">
            <a:avLst/>
          </a:prstGeom>
          <a:solidFill>
            <a:srgbClr val="0078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9" name="PhaseLblINTAKE"/>
          <p:cNvSpPr/>
          <p:nvPr/>
        </p:nvSpPr>
        <p:spPr>
          <a:xfrm>
            <a:off x="457200" y="3276600"/>
            <a:ext cx="2997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000" b="1">
                <a:solidFill>
                  <a:srgbClr val="0078D4"/>
                </a:solidFill>
                <a:latin typeface="Segoe UI"/>
              </a:rPr>
              <a:t>INTAKE</a:t>
            </a:r>
          </a:p>
        </p:txBody>
      </p:sp>
      <p:sp>
        <p:nvSpPr>
          <p:cNvPr id="320" name="PhaseBarDISCOVERY"/>
          <p:cNvSpPr/>
          <p:nvPr/>
        </p:nvSpPr>
        <p:spPr>
          <a:xfrm>
            <a:off x="3556000" y="3200400"/>
            <a:ext cx="1447800" cy="50800"/>
          </a:xfrm>
          <a:prstGeom prst="rect">
            <a:avLst/>
          </a:prstGeom>
          <a:solidFill>
            <a:srgbClr val="0D47A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1" name="PhaseLblDISCOVERY"/>
          <p:cNvSpPr/>
          <p:nvPr/>
        </p:nvSpPr>
        <p:spPr>
          <a:xfrm>
            <a:off x="3556000" y="3276600"/>
            <a:ext cx="14478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000" b="1">
                <a:solidFill>
                  <a:srgbClr val="0D47A1"/>
                </a:solidFill>
                <a:latin typeface="Segoe UI"/>
              </a:rPr>
              <a:t>DISCOVERY</a:t>
            </a:r>
          </a:p>
        </p:txBody>
      </p:sp>
      <p:sp>
        <p:nvSpPr>
          <p:cNvPr id="322" name="PhaseBarANALYSIS"/>
          <p:cNvSpPr/>
          <p:nvPr/>
        </p:nvSpPr>
        <p:spPr>
          <a:xfrm>
            <a:off x="5105400" y="3200400"/>
            <a:ext cx="2997200" cy="50800"/>
          </a:xfrm>
          <a:prstGeom prst="rect">
            <a:avLst/>
          </a:prstGeom>
          <a:solidFill>
            <a:srgbClr val="1B5E2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3" name="PhaseLblANALYSIS"/>
          <p:cNvSpPr/>
          <p:nvPr/>
        </p:nvSpPr>
        <p:spPr>
          <a:xfrm>
            <a:off x="5105400" y="3276600"/>
            <a:ext cx="2997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000" b="1">
                <a:solidFill>
                  <a:srgbClr val="1B5E20"/>
                </a:solidFill>
                <a:latin typeface="Segoe UI"/>
              </a:rPr>
              <a:t>ANALYSIS</a:t>
            </a:r>
          </a:p>
        </p:txBody>
      </p:sp>
      <p:sp>
        <p:nvSpPr>
          <p:cNvPr id="324" name="PhaseBarDELIVERY"/>
          <p:cNvSpPr/>
          <p:nvPr/>
        </p:nvSpPr>
        <p:spPr>
          <a:xfrm>
            <a:off x="8204200" y="3200400"/>
            <a:ext cx="2997200" cy="50800"/>
          </a:xfrm>
          <a:prstGeom prst="rect">
            <a:avLst/>
          </a:prstGeom>
          <a:solidFill>
            <a:srgbClr val="E651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5" name="PhaseLblDELIVERY"/>
          <p:cNvSpPr/>
          <p:nvPr/>
        </p:nvSpPr>
        <p:spPr>
          <a:xfrm>
            <a:off x="8204200" y="3276600"/>
            <a:ext cx="2997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000" b="1">
                <a:solidFill>
                  <a:srgbClr val="E65100"/>
                </a:solidFill>
                <a:latin typeface="Segoe UI"/>
              </a:rPr>
              <a:t>DELIVERY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9C1EEE-F1EA-ACE5-172A-B7B8FE2A2BB1}"/>
              </a:ext>
            </a:extLst>
          </p:cNvPr>
          <p:cNvGrpSpPr/>
          <p:nvPr/>
        </p:nvGrpSpPr>
        <p:grpSpPr>
          <a:xfrm>
            <a:off x="505840" y="3888361"/>
            <a:ext cx="10784460" cy="939800"/>
            <a:chOff x="505840" y="3937000"/>
            <a:chExt cx="10784460" cy="939800"/>
          </a:xfrm>
        </p:grpSpPr>
        <p:sp>
          <p:nvSpPr>
            <p:cNvPr id="326" name="TimelineLine"/>
            <p:cNvSpPr/>
            <p:nvPr/>
          </p:nvSpPr>
          <p:spPr>
            <a:xfrm>
              <a:off x="505840" y="4089400"/>
              <a:ext cx="10727449" cy="0"/>
            </a:xfrm>
            <a:prstGeom prst="line">
              <a:avLst/>
            </a:prstGeom>
            <a:ln w="25400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C46916-1F3E-6CFA-9B51-8901ED29DF78}"/>
                </a:ext>
              </a:extLst>
            </p:cNvPr>
            <p:cNvGrpSpPr/>
            <p:nvPr/>
          </p:nvGrpSpPr>
          <p:grpSpPr>
            <a:xfrm>
              <a:off x="9969500" y="3937000"/>
              <a:ext cx="1320800" cy="939800"/>
              <a:chOff x="9982200" y="3965643"/>
              <a:chExt cx="1320800" cy="939800"/>
            </a:xfrm>
          </p:grpSpPr>
          <p:sp>
            <p:nvSpPr>
              <p:cNvPr id="327" name="DotWeek 1-2"/>
              <p:cNvSpPr/>
              <p:nvPr/>
            </p:nvSpPr>
            <p:spPr>
              <a:xfrm>
                <a:off x="10490200" y="3965643"/>
                <a:ext cx="304800" cy="304800"/>
              </a:xfrm>
              <a:prstGeom prst="ellipse">
                <a:avLst/>
              </a:prstGeom>
              <a:solidFill>
                <a:srgbClr val="D23438"/>
              </a:solidFill>
              <a:ln w="0"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WeekWeek 1-2"/>
              <p:cNvSpPr/>
              <p:nvPr/>
            </p:nvSpPr>
            <p:spPr>
              <a:xfrm>
                <a:off x="10109200" y="4346643"/>
                <a:ext cx="1066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100" b="1">
                    <a:solidFill>
                      <a:srgbClr val="D23438"/>
                    </a:solidFill>
                    <a:latin typeface="Segoe UI"/>
                  </a:rPr>
                  <a:t>Week 7+</a:t>
                </a:r>
              </a:p>
            </p:txBody>
          </p:sp>
          <p:sp>
            <p:nvSpPr>
              <p:cNvPr id="329" name="DescWeek 1-2"/>
              <p:cNvSpPr/>
              <p:nvPr/>
            </p:nvSpPr>
            <p:spPr>
              <a:xfrm>
                <a:off x="9982200" y="4626043"/>
                <a:ext cx="1320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000">
                    <a:solidFill>
                      <a:srgbClr val="404040"/>
                    </a:solidFill>
                    <a:latin typeface="Segoe UI"/>
                  </a:rPr>
                  <a:t>Transformation</a:t>
                </a:r>
                <a:br>
                  <a:rPr lang="en-US" sz="1000">
                    <a:solidFill>
                      <a:srgbClr val="404040"/>
                    </a:solidFill>
                    <a:latin typeface="Segoe UI"/>
                  </a:rPr>
                </a:br>
                <a:r>
                  <a:rPr lang="en-US" sz="1000">
                    <a:solidFill>
                      <a:srgbClr val="404040"/>
                    </a:solidFill>
                    <a:latin typeface="Segoe UI"/>
                  </a:rPr>
                  <a:t>Kickoff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81B2C7-33B9-878F-4F7C-1F3BB5F679A5}"/>
                </a:ext>
              </a:extLst>
            </p:cNvPr>
            <p:cNvGrpSpPr/>
            <p:nvPr/>
          </p:nvGrpSpPr>
          <p:grpSpPr>
            <a:xfrm>
              <a:off x="3631119" y="3937000"/>
              <a:ext cx="1320800" cy="939800"/>
              <a:chOff x="2921000" y="3937000"/>
              <a:chExt cx="1320800" cy="939800"/>
            </a:xfrm>
          </p:grpSpPr>
          <p:sp>
            <p:nvSpPr>
              <p:cNvPr id="330" name="DotWeek 3"/>
              <p:cNvSpPr/>
              <p:nvPr/>
            </p:nvSpPr>
            <p:spPr>
              <a:xfrm>
                <a:off x="3429000" y="3937000"/>
                <a:ext cx="304800" cy="304800"/>
              </a:xfrm>
              <a:prstGeom prst="ellipse">
                <a:avLst/>
              </a:prstGeom>
              <a:solidFill>
                <a:srgbClr val="0D47A1"/>
              </a:solidFill>
              <a:ln w="0"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WeekWeek 3"/>
              <p:cNvSpPr/>
              <p:nvPr/>
            </p:nvSpPr>
            <p:spPr>
              <a:xfrm>
                <a:off x="3048000" y="4318000"/>
                <a:ext cx="1066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100" b="1">
                    <a:solidFill>
                      <a:srgbClr val="0D47A1"/>
                    </a:solidFill>
                    <a:latin typeface="Segoe UI"/>
                  </a:rPr>
                  <a:t>Week 1-2</a:t>
                </a:r>
              </a:p>
            </p:txBody>
          </p:sp>
          <p:sp>
            <p:nvSpPr>
              <p:cNvPr id="332" name="DescWeek 3"/>
              <p:cNvSpPr/>
              <p:nvPr/>
            </p:nvSpPr>
            <p:spPr>
              <a:xfrm>
                <a:off x="2921000" y="4597400"/>
                <a:ext cx="1320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000">
                    <a:solidFill>
                      <a:srgbClr val="404040"/>
                    </a:solidFill>
                    <a:latin typeface="Segoe UI"/>
                  </a:rPr>
                  <a:t>6 Discovery Sessions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EA45AF-AE9E-158C-E5C0-0897C429A6A0}"/>
                </a:ext>
              </a:extLst>
            </p:cNvPr>
            <p:cNvGrpSpPr/>
            <p:nvPr/>
          </p:nvGrpSpPr>
          <p:grpSpPr>
            <a:xfrm>
              <a:off x="5938199" y="3937000"/>
              <a:ext cx="1320800" cy="939800"/>
              <a:chOff x="5588000" y="3937000"/>
              <a:chExt cx="1320800" cy="939800"/>
            </a:xfrm>
          </p:grpSpPr>
          <p:sp>
            <p:nvSpPr>
              <p:cNvPr id="333" name="DotWeek 4-5"/>
              <p:cNvSpPr/>
              <p:nvPr/>
            </p:nvSpPr>
            <p:spPr>
              <a:xfrm>
                <a:off x="6096000" y="3937000"/>
                <a:ext cx="304800" cy="304800"/>
              </a:xfrm>
              <a:prstGeom prst="ellipse">
                <a:avLst/>
              </a:prstGeom>
              <a:solidFill>
                <a:srgbClr val="1B5E20"/>
              </a:solidFill>
              <a:ln w="0"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WeekWeek 4-5"/>
              <p:cNvSpPr/>
              <p:nvPr/>
            </p:nvSpPr>
            <p:spPr>
              <a:xfrm>
                <a:off x="5715000" y="4318000"/>
                <a:ext cx="1066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100" b="1">
                    <a:solidFill>
                      <a:srgbClr val="1B5E20"/>
                    </a:solidFill>
                    <a:latin typeface="Segoe UI"/>
                  </a:rPr>
                  <a:t>Week 3-4</a:t>
                </a:r>
              </a:p>
            </p:txBody>
          </p:sp>
          <p:sp>
            <p:nvSpPr>
              <p:cNvPr id="335" name="DescWeek 4-5"/>
              <p:cNvSpPr/>
              <p:nvPr/>
            </p:nvSpPr>
            <p:spPr>
              <a:xfrm>
                <a:off x="5588000" y="4597400"/>
                <a:ext cx="1320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000">
                    <a:solidFill>
                      <a:srgbClr val="404040"/>
                    </a:solidFill>
                    <a:latin typeface="Segoe UI"/>
                  </a:rPr>
                  <a:t>Scoring &amp; Report</a:t>
                </a:r>
                <a:br>
                  <a:rPr lang="en-US" sz="1000">
                    <a:solidFill>
                      <a:srgbClr val="404040"/>
                    </a:solidFill>
                    <a:latin typeface="Segoe UI"/>
                  </a:rPr>
                </a:br>
                <a:r>
                  <a:rPr lang="en-US" sz="1000">
                    <a:solidFill>
                      <a:srgbClr val="404040"/>
                    </a:solidFill>
                    <a:latin typeface="Segoe UI"/>
                  </a:rPr>
                  <a:t>Customer Validation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B9BD421-45D6-E1B7-70F2-F11F0A0C4CA3}"/>
                </a:ext>
              </a:extLst>
            </p:cNvPr>
            <p:cNvGrpSpPr/>
            <p:nvPr/>
          </p:nvGrpSpPr>
          <p:grpSpPr>
            <a:xfrm>
              <a:off x="8197172" y="3937000"/>
              <a:ext cx="1320800" cy="939800"/>
              <a:chOff x="8382000" y="3937000"/>
              <a:chExt cx="1320800" cy="939800"/>
            </a:xfrm>
          </p:grpSpPr>
          <p:sp>
            <p:nvSpPr>
              <p:cNvPr id="336" name="DotWeek 6+"/>
              <p:cNvSpPr/>
              <p:nvPr/>
            </p:nvSpPr>
            <p:spPr>
              <a:xfrm>
                <a:off x="8890000" y="3937000"/>
                <a:ext cx="304800" cy="304800"/>
              </a:xfrm>
              <a:prstGeom prst="ellipse">
                <a:avLst/>
              </a:prstGeom>
              <a:solidFill>
                <a:srgbClr val="E65100"/>
              </a:solidFill>
              <a:ln w="0"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WeekWeek 6+"/>
              <p:cNvSpPr/>
              <p:nvPr/>
            </p:nvSpPr>
            <p:spPr>
              <a:xfrm>
                <a:off x="8509000" y="4318000"/>
                <a:ext cx="1066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100" b="1">
                    <a:solidFill>
                      <a:srgbClr val="E65100"/>
                    </a:solidFill>
                    <a:latin typeface="Segoe UI"/>
                  </a:rPr>
                  <a:t>Week 5-6</a:t>
                </a:r>
              </a:p>
            </p:txBody>
          </p:sp>
          <p:sp>
            <p:nvSpPr>
              <p:cNvPr id="338" name="DescWeek 6+"/>
              <p:cNvSpPr/>
              <p:nvPr/>
            </p:nvSpPr>
            <p:spPr>
              <a:xfrm>
                <a:off x="8382000" y="4597400"/>
                <a:ext cx="1320800" cy="279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000">
                    <a:solidFill>
                      <a:srgbClr val="404040"/>
                    </a:solidFill>
                    <a:latin typeface="Segoe UI"/>
                  </a:rPr>
                  <a:t>Roadmap Delivery</a:t>
                </a:r>
                <a:br>
                  <a:rPr lang="en-US" sz="1000">
                    <a:solidFill>
                      <a:srgbClr val="404040"/>
                    </a:solidFill>
                    <a:latin typeface="Segoe UI"/>
                  </a:rPr>
                </a:br>
                <a:r>
                  <a:rPr lang="en-US" sz="1000">
                    <a:solidFill>
                      <a:srgbClr val="404040"/>
                    </a:solidFill>
                    <a:latin typeface="Segoe UI"/>
                  </a:rPr>
                  <a:t>Customer Validation</a:t>
                </a:r>
              </a:p>
            </p:txBody>
          </p:sp>
        </p:grpSp>
      </p:grpSp>
      <p:sp>
        <p:nvSpPr>
          <p:cNvPr id="339" name="Subtitle"/>
          <p:cNvSpPr/>
          <p:nvPr/>
        </p:nvSpPr>
        <p:spPr>
          <a:xfrm>
            <a:off x="457200" y="1010593"/>
            <a:ext cx="635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200">
                <a:solidFill>
                  <a:srgbClr val="404040"/>
                </a:solidFill>
                <a:latin typeface="Segoe UI"/>
              </a:rPr>
              <a:t>Main Process Flow  |  See next slide for detailed phase breakdown</a:t>
            </a:r>
          </a:p>
        </p:txBody>
      </p:sp>
      <p:sp>
        <p:nvSpPr>
          <p:cNvPr id="340" name="InsightBox"/>
          <p:cNvSpPr/>
          <p:nvPr/>
        </p:nvSpPr>
        <p:spPr>
          <a:xfrm>
            <a:off x="457200" y="5168088"/>
            <a:ext cx="11277600" cy="91440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0078D4"/>
            </a:solidFill>
          </a:ln>
        </p:spPr>
        <p:txBody>
          <a:bodyPr wrap="square" lIns="108000" tIns="54000" rIns="108000" bIns="54000" anchor="ctr"/>
          <a:lstStyle/>
          <a:p>
            <a:pPr algn="l"/>
            <a:r>
              <a:rPr lang="en-US" sz="1100" b="1">
                <a:solidFill>
                  <a:srgbClr val="0078D4"/>
                </a:solidFill>
                <a:latin typeface="Segoe UI"/>
              </a:rPr>
              <a:t>Key: </a:t>
            </a:r>
            <a:r>
              <a:rPr lang="en-US" sz="1100">
                <a:solidFill>
                  <a:srgbClr val="404040"/>
                </a:solidFill>
                <a:latin typeface="Segoe UI"/>
              </a:rPr>
              <a:t>With Partners, OU Enterprise Approval is not needed. After Customer Validation, GBB/Partners create 4 Roadmap documents covering transformation strategy.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569086-9873-ACCE-D149-E8F233496B9D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11" name="BottomBar1">
              <a:extLst>
                <a:ext uri="{FF2B5EF4-FFF2-40B4-BE49-F238E27FC236}">
                  <a16:creationId xmlns:a16="http://schemas.microsoft.com/office/drawing/2014/main" id="{70329D1D-11E9-639E-0181-1D6A48C4CE24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BottomBar2">
              <a:extLst>
                <a:ext uri="{FF2B5EF4-FFF2-40B4-BE49-F238E27FC236}">
                  <a16:creationId xmlns:a16="http://schemas.microsoft.com/office/drawing/2014/main" id="{7585FDA1-870D-B100-3ADE-4B33C65875E0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BottomBar3">
              <a:extLst>
                <a:ext uri="{FF2B5EF4-FFF2-40B4-BE49-F238E27FC236}">
                  <a16:creationId xmlns:a16="http://schemas.microsoft.com/office/drawing/2014/main" id="{E6ACF90D-1B07-EF8C-6C94-20E5C4BD4BDF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BottomBar4">
              <a:extLst>
                <a:ext uri="{FF2B5EF4-FFF2-40B4-BE49-F238E27FC236}">
                  <a16:creationId xmlns:a16="http://schemas.microsoft.com/office/drawing/2014/main" id="{77A49299-9110-B450-4454-953A01A200ED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BottomBar5">
              <a:extLst>
                <a:ext uri="{FF2B5EF4-FFF2-40B4-BE49-F238E27FC236}">
                  <a16:creationId xmlns:a16="http://schemas.microsoft.com/office/drawing/2014/main" id="{4539D249-947B-B705-EA21-27F3CE737BF0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5416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Pre-Qualification &amp; T-Shirt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79" y="996416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 b="1"/>
              <a:t>Criteria to qualify accounts and estimate scope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D685193-0155-E327-4A69-FC0EA6E22796}"/>
              </a:ext>
            </a:extLst>
          </p:cNvPr>
          <p:cNvGrpSpPr/>
          <p:nvPr/>
        </p:nvGrpSpPr>
        <p:grpSpPr>
          <a:xfrm>
            <a:off x="457200" y="1529264"/>
            <a:ext cx="10881360" cy="2514600"/>
            <a:chOff x="457200" y="1624885"/>
            <a:chExt cx="10881360" cy="2514600"/>
          </a:xfrm>
        </p:grpSpPr>
        <p:sp>
          <p:nvSpPr>
            <p:cNvPr id="5" name="Rounded Rectangle 4"/>
            <p:cNvSpPr/>
            <p:nvPr/>
          </p:nvSpPr>
          <p:spPr>
            <a:xfrm>
              <a:off x="457200" y="1624885"/>
              <a:ext cx="2103120" cy="4114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8640" y="1670604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t>T-Shirt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51760" y="1624885"/>
              <a:ext cx="2103120" cy="4114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70604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t>Total Developers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846320" y="1624885"/>
              <a:ext cx="2103120" cy="4114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37759" y="1670604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t>Copilot Seats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040879" y="1624885"/>
              <a:ext cx="2103120" cy="4114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19" y="1670604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t>GHAS Coverage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235440" y="1624885"/>
              <a:ext cx="2103120" cy="4114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326880" y="1670604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Segoe UI"/>
                </a:defRPr>
              </a:pPr>
              <a:r>
                <a:t>Applications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57200" y="217352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8640" y="223753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107C10"/>
                  </a:solidFill>
                  <a:latin typeface="Segoe UI"/>
                </a:defRPr>
              </a:pPr>
              <a:r>
                <a:t>Small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651760" y="217352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43200" y="223753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≤</a:t>
              </a:r>
              <a:r>
                <a:rPr lang="en-US"/>
                <a:t>5</a:t>
              </a:r>
              <a:r>
                <a:t>00 </a:t>
              </a:r>
              <a:r>
                <a:rPr err="1"/>
                <a:t>devs</a:t>
              </a:r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846320" y="217352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37759" y="223753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&lt;</a:t>
              </a:r>
              <a:r>
                <a:rPr lang="en-US"/>
                <a:t>200 </a:t>
              </a:r>
              <a:r>
                <a:t>Copilot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40879" y="217352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2319" y="223753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&lt;25% GHAS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235440" y="217352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26880" y="223753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≤</a:t>
              </a:r>
              <a:r>
                <a:rPr lang="en-US"/>
                <a:t>40</a:t>
              </a:r>
              <a:r>
                <a:t> apps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267644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" y="274045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0078D4"/>
                  </a:solidFill>
                  <a:latin typeface="Segoe UI"/>
                </a:defRPr>
              </a:pPr>
              <a:r>
                <a:t>Medium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651760" y="267644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43200" y="274045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rPr lang="en-US"/>
                <a:t>1000</a:t>
              </a:r>
              <a:r>
                <a:t>-</a:t>
              </a:r>
              <a:r>
                <a:rPr lang="en-US"/>
                <a:t>3000</a:t>
              </a:r>
              <a:r>
                <a:t> </a:t>
              </a:r>
              <a:r>
                <a:rPr err="1"/>
                <a:t>devs</a:t>
              </a:r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846320" y="267644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37759" y="274045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rPr lang="en-US"/>
                <a:t>500</a:t>
              </a:r>
              <a:r>
                <a:t>-</a:t>
              </a:r>
              <a:r>
                <a:rPr lang="en-US"/>
                <a:t>1k</a:t>
              </a:r>
              <a:r>
                <a:t> Copilot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040879" y="267644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32319" y="274045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25-60% GHAS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235440" y="267644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326880" y="274045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rPr lang="en-US"/>
                <a:t>100</a:t>
              </a:r>
              <a:r>
                <a:t>-80 apps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317936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8640" y="324337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8C00"/>
                  </a:solidFill>
                  <a:latin typeface="Segoe UI"/>
                </a:defRPr>
              </a:pPr>
              <a:r>
                <a:t>Large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651760" y="317936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743200" y="324337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rPr lang="en-US"/>
                <a:t>3000</a:t>
              </a:r>
              <a:r>
                <a:t>-</a:t>
              </a:r>
              <a:r>
                <a:rPr lang="en-US"/>
                <a:t>6000</a:t>
              </a:r>
              <a:r>
                <a:t> </a:t>
              </a:r>
              <a:r>
                <a:rPr err="1"/>
                <a:t>devs</a:t>
              </a:r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846320" y="317936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937759" y="324337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rPr lang="en-US"/>
                <a:t>1k</a:t>
              </a:r>
              <a:r>
                <a:t>-</a:t>
              </a:r>
              <a:r>
                <a:rPr lang="en-US"/>
                <a:t>4</a:t>
              </a:r>
              <a:r>
                <a:t>.2K Copilot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040879" y="317936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132319" y="324337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60-85% GHAS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235440" y="3179365"/>
              <a:ext cx="2103120" cy="4572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26880" y="324337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81-200 apps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57200" y="368228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48640" y="374629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D13438"/>
                  </a:solidFill>
                  <a:latin typeface="Segoe UI"/>
                </a:defRPr>
              </a:pPr>
              <a:r>
                <a:t>XL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651760" y="368228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743200" y="374629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&gt;</a:t>
              </a:r>
              <a:r>
                <a:rPr lang="en-US"/>
                <a:t>6</a:t>
              </a:r>
              <a:r>
                <a:t>K </a:t>
              </a:r>
              <a:r>
                <a:rPr err="1"/>
                <a:t>devs</a:t>
              </a:r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846320" y="368228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937759" y="374629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&gt;</a:t>
              </a:r>
              <a:r>
                <a:rPr lang="en-US"/>
                <a:t>4.</a:t>
              </a:r>
              <a:r>
                <a:t>2K Copilot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040879" y="368228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132319" y="3746293"/>
              <a:ext cx="19202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&gt;85% GHAS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235440" y="3682285"/>
              <a:ext cx="210312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326880" y="3746293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0">
                  <a:solidFill>
                    <a:srgbClr val="323232"/>
                  </a:solidFill>
                  <a:latin typeface="Segoe UI"/>
                </a:defRPr>
              </a:pPr>
              <a:r>
                <a:t>&gt; apps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361576" y="4370490"/>
            <a:ext cx="51718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Qualification Criteria for AI Maturity Assessment: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17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2EDA79A-AE36-8A08-1F94-61178ECEE854}"/>
              </a:ext>
            </a:extLst>
          </p:cNvPr>
          <p:cNvGrpSpPr/>
          <p:nvPr/>
        </p:nvGrpSpPr>
        <p:grpSpPr>
          <a:xfrm>
            <a:off x="5533411" y="4549154"/>
            <a:ext cx="5805149" cy="1545307"/>
            <a:chOff x="914400" y="4697095"/>
            <a:chExt cx="10058400" cy="1545307"/>
          </a:xfrm>
        </p:grpSpPr>
        <p:sp>
          <p:nvSpPr>
            <p:cNvPr id="56" name="TextBox 55"/>
            <p:cNvSpPr txBox="1"/>
            <p:nvPr/>
          </p:nvSpPr>
          <p:spPr>
            <a:xfrm>
              <a:off x="914400" y="4697095"/>
              <a:ext cx="10058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l">
                <a:buClr>
                  <a:srgbClr val="00B050"/>
                </a:buClr>
                <a:buSzPct val="111000"/>
                <a:buFont typeface="Wingdings" pitchFamily="2" charset="2"/>
                <a:buChar char="ü"/>
                <a:defRPr sz="1300" b="0">
                  <a:solidFill>
                    <a:srgbClr val="323232"/>
                  </a:solidFill>
                  <a:latin typeface="Segoe UI"/>
                </a:defRPr>
              </a:pPr>
              <a:r>
                <a:rPr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 Executive sponsorship confirmed for transformation program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14400" y="5013502"/>
              <a:ext cx="10058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Clr>
                  <a:srgbClr val="00B050"/>
                </a:buClr>
                <a:buSzPct val="111000"/>
                <a:buFont typeface="Wingdings" pitchFamily="2" charset="2"/>
                <a:buChar char="ü"/>
                <a:defRPr sz="1300" b="0">
                  <a:solidFill>
                    <a:srgbClr val="323232"/>
                  </a:solidFill>
                  <a:latin typeface="Segoe UI"/>
                </a:defRPr>
              </a:pPr>
              <a:r>
                <a:rPr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 Minimum </a:t>
              </a:r>
              <a:r>
                <a:rPr lang="en-BR"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&gt;500</a:t>
              </a:r>
              <a:r>
                <a:rPr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+ developers using or planning GitHub/Azure DevOps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14400" y="5332588"/>
              <a:ext cx="10058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l">
                <a:buClr>
                  <a:srgbClr val="00B050"/>
                </a:buClr>
                <a:buSzPct val="111000"/>
                <a:buFont typeface="Wingdings" pitchFamily="2" charset="2"/>
                <a:buChar char="ü"/>
                <a:defRPr sz="1300" b="0">
                  <a:solidFill>
                    <a:srgbClr val="323232"/>
                  </a:solidFill>
                  <a:latin typeface="Segoe UI"/>
                </a:defRPr>
              </a:pPr>
              <a:r>
                <a:rPr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 Active or planned GitHub Copilot deployment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14400" y="5648995"/>
              <a:ext cx="10058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l">
                <a:buClr>
                  <a:srgbClr val="00B050"/>
                </a:buClr>
                <a:buSzPct val="111000"/>
                <a:buFont typeface="Wingdings" pitchFamily="2" charset="2"/>
                <a:buChar char="ü"/>
                <a:defRPr sz="1300" b="0">
                  <a:solidFill>
                    <a:srgbClr val="323232"/>
                  </a:solidFill>
                  <a:latin typeface="Segoe UI"/>
                </a:defRPr>
              </a:pPr>
              <a:r>
                <a:rPr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lang="en-US"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Strategic account with AI/Cloud growth potential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7006A49-2B18-2AEA-8A99-03D6823D2F83}"/>
                </a:ext>
              </a:extLst>
            </p:cNvPr>
            <p:cNvSpPr txBox="1"/>
            <p:nvPr/>
          </p:nvSpPr>
          <p:spPr>
            <a:xfrm>
              <a:off x="914400" y="5965403"/>
              <a:ext cx="100584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l">
                <a:buClr>
                  <a:srgbClr val="00B050"/>
                </a:buClr>
                <a:buSzPct val="111000"/>
                <a:buFont typeface="Wingdings" pitchFamily="2" charset="2"/>
                <a:buChar char="ü"/>
                <a:defRPr sz="1300" b="0">
                  <a:solidFill>
                    <a:srgbClr val="323232"/>
                  </a:solidFill>
                  <a:latin typeface="Segoe UI"/>
                </a:defRPr>
              </a:pPr>
              <a:r>
                <a:rPr lang="en-US" sz="1200" b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 Compete scenarios</a:t>
              </a:r>
              <a:endParaRPr sz="1200" b="1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pic>
        <p:nvPicPr>
          <p:cNvPr id="66" name="Picture 65" descr="A black and yellow logo&#10;&#10;AI-generated content may be incorrect.">
            <a:extLst>
              <a:ext uri="{FF2B5EF4-FFF2-40B4-BE49-F238E27FC236}">
                <a16:creationId xmlns:a16="http://schemas.microsoft.com/office/drawing/2014/main" id="{00619453-12D8-DCBB-D3B8-B9E792943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63" name="FooterDiv">
            <a:extLst>
              <a:ext uri="{FF2B5EF4-FFF2-40B4-BE49-F238E27FC236}">
                <a16:creationId xmlns:a16="http://schemas.microsoft.com/office/drawing/2014/main" id="{DB53A76A-3F30-31CD-0F32-DA56435154FD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FooterText">
            <a:extLst>
              <a:ext uri="{FF2B5EF4-FFF2-40B4-BE49-F238E27FC236}">
                <a16:creationId xmlns:a16="http://schemas.microsoft.com/office/drawing/2014/main" id="{E8A44E48-B591-63F5-6B6F-E8058FF2073C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26B9B91-D334-630C-3ABB-4197D33E13AB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64" name="BottomBar1">
              <a:extLst>
                <a:ext uri="{FF2B5EF4-FFF2-40B4-BE49-F238E27FC236}">
                  <a16:creationId xmlns:a16="http://schemas.microsoft.com/office/drawing/2014/main" id="{E94AE50E-A2EA-0955-AC90-551EEE4E62D3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BottomBar2">
              <a:extLst>
                <a:ext uri="{FF2B5EF4-FFF2-40B4-BE49-F238E27FC236}">
                  <a16:creationId xmlns:a16="http://schemas.microsoft.com/office/drawing/2014/main" id="{EDC639F3-0D32-338A-C8CF-68A15A233A7D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BottomBar3">
              <a:extLst>
                <a:ext uri="{FF2B5EF4-FFF2-40B4-BE49-F238E27FC236}">
                  <a16:creationId xmlns:a16="http://schemas.microsoft.com/office/drawing/2014/main" id="{78EBF0CB-D40A-8E5E-F466-9F85819BA37B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BottomBar4">
              <a:extLst>
                <a:ext uri="{FF2B5EF4-FFF2-40B4-BE49-F238E27FC236}">
                  <a16:creationId xmlns:a16="http://schemas.microsoft.com/office/drawing/2014/main" id="{378B016F-C3C3-CEFC-CE68-8C214786682C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BottomBar5">
              <a:extLst>
                <a:ext uri="{FF2B5EF4-FFF2-40B4-BE49-F238E27FC236}">
                  <a16:creationId xmlns:a16="http://schemas.microsoft.com/office/drawing/2014/main" id="{016A8600-D42B-62A5-8158-63AD4F613594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83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</a:t>
            </a:r>
            <a:r>
              <a:rPr lang="en-US"/>
              <a:t>4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Assessment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6-Session Discovery Model | 12 Hours Total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20C52-C047-2D85-0192-9DB703099D70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C657F126-89B3-23FB-47BB-90C76DCB1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6-Session Discovery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05635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 b="1"/>
              <a:t>12 hours of structured assessment across all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32246"/>
            <a:ext cx="3657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632246"/>
            <a:ext cx="3657600" cy="2103120"/>
          </a:xfrm>
          <a:prstGeom prst="roundRect">
            <a:avLst/>
          </a:prstGeom>
          <a:noFill/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632246"/>
            <a:ext cx="36576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7796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S1: Executive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96253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3516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Focus: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6376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Organization context,</a:t>
            </a:r>
            <a:br/>
            <a:r>
              <a:t>tech stack,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0384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Participants: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23244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CTO, VP Eng,</a:t>
            </a:r>
            <a:br/>
            <a:r>
              <a:t>IT Director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632246"/>
            <a:ext cx="3657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60520" y="1632246"/>
            <a:ext cx="3657600" cy="2103120"/>
          </a:xfrm>
          <a:prstGeom prst="roundRect">
            <a:avLst/>
          </a:prstGeom>
          <a:noFill/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0520" y="1632246"/>
            <a:ext cx="36576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167796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S2: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696253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13516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Focus: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36376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8 capabilities:</a:t>
            </a:r>
            <a:br/>
            <a:r>
              <a:t>Copilot, DevEx,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00384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Participants: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3244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Eng Managers,</a:t>
            </a:r>
            <a:br/>
            <a:r>
              <a:t>Tech Leads, Devs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632246"/>
            <a:ext cx="3657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0" y="1632246"/>
            <a:ext cx="3657600" cy="2103120"/>
          </a:xfrm>
          <a:prstGeom prst="roundRect">
            <a:avLst/>
          </a:prstGeom>
          <a:noFill/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1632246"/>
            <a:ext cx="3657600" cy="4114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167796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S3: 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1696253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13516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Focus: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36376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10 capabilities:</a:t>
            </a:r>
            <a:br/>
            <a:r>
              <a:t>CI/CD, DORA,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00384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Participants: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23244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DevOps Leads,</a:t>
            </a:r>
            <a:br/>
            <a:r>
              <a:t>SRE, Release Mgrs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963966"/>
            <a:ext cx="3657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74320" y="3963966"/>
            <a:ext cx="3657600" cy="2103120"/>
          </a:xfrm>
          <a:prstGeom prst="roundRect">
            <a:avLst/>
          </a:prstGeom>
          <a:noFill/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3963966"/>
            <a:ext cx="3657600" cy="411480"/>
          </a:xfrm>
          <a:prstGeom prst="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400968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S4: 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02797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446688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Focus: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469548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10 capabilities:</a:t>
            </a:r>
            <a:br/>
            <a:r>
              <a:t>MLOps, IDP,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533556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Participants: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56416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Platform Architects,</a:t>
            </a:r>
            <a:br/>
            <a:r>
              <a:t>ML Engineers, Cloud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60520" y="3963966"/>
            <a:ext cx="3657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160520" y="3963966"/>
            <a:ext cx="3657600" cy="2103120"/>
          </a:xfrm>
          <a:prstGeom prst="roundRect">
            <a:avLst/>
          </a:prstGeom>
          <a:noFill/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60520" y="3963966"/>
            <a:ext cx="36576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51959" y="400968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S5: Scoring &amp;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02797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446688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Focus: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69548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Cross-pillar calibration,</a:t>
            </a:r>
            <a:br/>
            <a:r>
              <a:t>score finalization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533556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Participants: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0" y="556416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Facilitators,</a:t>
            </a:r>
            <a:br/>
            <a:r>
              <a:t>Leadership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963966"/>
            <a:ext cx="3657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046720" y="3963966"/>
            <a:ext cx="3657600" cy="2103120"/>
          </a:xfrm>
          <a:prstGeom prst="roundRect">
            <a:avLst/>
          </a:prstGeom>
          <a:noFill/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046720" y="3963966"/>
            <a:ext cx="3657600" cy="41148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38160" y="400968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S6: Roadmap &amp;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402797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446688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Focus: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469548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Transformation planning,</a:t>
            </a:r>
            <a:br/>
            <a:r>
              <a:t>prioritization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80" y="533556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Participants: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80" y="556416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Segoe UI"/>
              </a:defRPr>
            </a:pPr>
            <a:r>
              <a:t>All Stakeholders,</a:t>
            </a:r>
            <a:br/>
            <a:r>
              <a:t>ATU/STU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19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64" name="Picture 63" descr="A black and yellow logo&#10;&#10;AI-generated content may be incorrect.">
            <a:extLst>
              <a:ext uri="{FF2B5EF4-FFF2-40B4-BE49-F238E27FC236}">
                <a16:creationId xmlns:a16="http://schemas.microsoft.com/office/drawing/2014/main" id="{7792D272-A5A9-E74D-936C-E9745916A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2F09F439-267F-0CEA-6C2D-BCFB469DA1B2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FooterText">
            <a:extLst>
              <a:ext uri="{FF2B5EF4-FFF2-40B4-BE49-F238E27FC236}">
                <a16:creationId xmlns:a16="http://schemas.microsoft.com/office/drawing/2014/main" id="{BC44A971-C0B8-D95D-DD0D-53212F756633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D92B2B-8AF7-5D61-1919-99438E829336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62" name="BottomBar1">
              <a:extLst>
                <a:ext uri="{FF2B5EF4-FFF2-40B4-BE49-F238E27FC236}">
                  <a16:creationId xmlns:a16="http://schemas.microsoft.com/office/drawing/2014/main" id="{A8D177A3-9A3E-F921-BC8F-CA7B08F03D5D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BottomBar2">
              <a:extLst>
                <a:ext uri="{FF2B5EF4-FFF2-40B4-BE49-F238E27FC236}">
                  <a16:creationId xmlns:a16="http://schemas.microsoft.com/office/drawing/2014/main" id="{6A4E39A7-4FDD-44FD-E38A-67F497E6D6ED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BottomBar3">
              <a:extLst>
                <a:ext uri="{FF2B5EF4-FFF2-40B4-BE49-F238E27FC236}">
                  <a16:creationId xmlns:a16="http://schemas.microsoft.com/office/drawing/2014/main" id="{0F2EAD5D-6A3C-A391-9A76-4567F4A3A396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BottomBar4">
              <a:extLst>
                <a:ext uri="{FF2B5EF4-FFF2-40B4-BE49-F238E27FC236}">
                  <a16:creationId xmlns:a16="http://schemas.microsoft.com/office/drawing/2014/main" id="{ABA63554-18FA-8E97-0B7B-366CA3B8BDB7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BottomBar5">
              <a:extLst>
                <a:ext uri="{FF2B5EF4-FFF2-40B4-BE49-F238E27FC236}">
                  <a16:creationId xmlns:a16="http://schemas.microsoft.com/office/drawing/2014/main" id="{2452C716-86CE-8CDB-94BB-10446269F01F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83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6439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 b="1"/>
              <a:t>Evidence-based scoring with weighted questions per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27206"/>
            <a:ext cx="6172200" cy="109728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1864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Capability Score Formula: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4406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onsolas"/>
              </a:defRPr>
            </a:pPr>
            <a:r>
              <a:rPr sz="1600"/>
              <a:t>SUMPRODUCT(scores, weights) / SUM(weights)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11913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Question Weights:</a:t>
            </a:r>
          </a:p>
        </p:txBody>
      </p:sp>
      <p:sp>
        <p:nvSpPr>
          <p:cNvPr id="9" name="Oval 8"/>
          <p:cNvSpPr/>
          <p:nvPr/>
        </p:nvSpPr>
        <p:spPr>
          <a:xfrm>
            <a:off x="7786116" y="1596026"/>
            <a:ext cx="274320" cy="27432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1</a:t>
            </a:r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8052700" y="1603762"/>
            <a:ext cx="2911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Critical — Core adoption indicator</a:t>
            </a:r>
          </a:p>
        </p:txBody>
      </p:sp>
      <p:sp>
        <p:nvSpPr>
          <p:cNvPr id="12" name="Oval 11"/>
          <p:cNvSpPr/>
          <p:nvPr/>
        </p:nvSpPr>
        <p:spPr>
          <a:xfrm>
            <a:off x="7786116" y="1967483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0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8052699" y="1969521"/>
            <a:ext cx="2911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Important — Key performance metric</a:t>
            </a:r>
          </a:p>
        </p:txBody>
      </p:sp>
      <p:sp>
        <p:nvSpPr>
          <p:cNvPr id="15" name="Oval 14"/>
          <p:cNvSpPr/>
          <p:nvPr/>
        </p:nvSpPr>
        <p:spPr>
          <a:xfrm>
            <a:off x="7786116" y="2338940"/>
            <a:ext cx="274320" cy="27432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0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052700" y="2335280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Complementary — Supporting practice</a:t>
            </a:r>
          </a:p>
        </p:txBody>
      </p:sp>
      <p:sp>
        <p:nvSpPr>
          <p:cNvPr id="18" name="Oval 17"/>
          <p:cNvSpPr/>
          <p:nvPr/>
        </p:nvSpPr>
        <p:spPr>
          <a:xfrm>
            <a:off x="7786116" y="2710398"/>
            <a:ext cx="274320" cy="2743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0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052700" y="2701041"/>
            <a:ext cx="29115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Context — Background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8844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Evidence-Based Assessment Example: Capability 1.1 (AI Coding Assistants)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45647"/>
            <a:ext cx="4572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663934"/>
            <a:ext cx="365760" cy="27432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Q#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645647"/>
            <a:ext cx="484632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663934"/>
            <a:ext cx="4754880" cy="27432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45647"/>
            <a:ext cx="54864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663934"/>
            <a:ext cx="548640" cy="21544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sz="800"/>
              <a:t>Weight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645647"/>
            <a:ext cx="50292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3663934"/>
            <a:ext cx="4937760" cy="27432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Scoring Thresholds (L0 → L4)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11407"/>
            <a:ext cx="45720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5840" y="4011407"/>
            <a:ext cx="484632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4011407"/>
            <a:ext cx="54864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0" y="4011407"/>
            <a:ext cx="502920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05712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05712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% developers with Copilot licenses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0571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05712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L0: 0% | L1: &lt;15% | L2: 15-40% | L3: 40-75% | L4: &gt;75%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22887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05840" y="4422887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0" y="4422887"/>
            <a:ext cx="548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0" y="4422887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46860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446860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How is Copilot usage tracked?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44686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0.8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46860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L0: None | L1: Basic counts | L2: Acceptance rate | L3: ROI | L4: Predictive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34367"/>
            <a:ext cx="45720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05840" y="4834367"/>
            <a:ext cx="484632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943600" y="4834367"/>
            <a:ext cx="54864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83680" y="4834367"/>
            <a:ext cx="502920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88008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Q3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488008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Average acceptance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48800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0.8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48800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L0: No data | L1: &lt;20% | L2: 20-40% | L3: 40-60% | L4: &gt;60%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45847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05840" y="5245847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943600" y="5245847"/>
            <a:ext cx="548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83680" y="5245847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529156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Q4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529156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Copilot Chat adoption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529156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0.5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529156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L0: Not used | L1: &lt;20% | L2: 20-50% | L3: 50-80% | L4: &gt;80%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657327"/>
            <a:ext cx="45720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05840" y="5657327"/>
            <a:ext cx="484632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943600" y="5657327"/>
            <a:ext cx="54864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583680" y="5657327"/>
            <a:ext cx="5029200" cy="3840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570304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Q5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" y="5703047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AI code generation policies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89320" y="570304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0.8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29400" y="570304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L0: None | L1: Basic | L2: Documented | L3: Comprehensive | L4: Adaptive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20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75" name="Picture 74" descr="A black and yellow logo&#10;&#10;AI-generated content may be incorrect.">
            <a:extLst>
              <a:ext uri="{FF2B5EF4-FFF2-40B4-BE49-F238E27FC236}">
                <a16:creationId xmlns:a16="http://schemas.microsoft.com/office/drawing/2014/main" id="{F6986000-2AE1-D8BC-BFDE-8EE4B71C0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77DB74AC-8DDF-0C11-381E-07BB4C8A17E9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ooterText">
            <a:extLst>
              <a:ext uri="{FF2B5EF4-FFF2-40B4-BE49-F238E27FC236}">
                <a16:creationId xmlns:a16="http://schemas.microsoft.com/office/drawing/2014/main" id="{06DF127E-9A91-DDB9-73AA-8C3845140C62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7E3E57-2641-9E5E-2702-EEDE8A877096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16" name="BottomBar1">
              <a:extLst>
                <a:ext uri="{FF2B5EF4-FFF2-40B4-BE49-F238E27FC236}">
                  <a16:creationId xmlns:a16="http://schemas.microsoft.com/office/drawing/2014/main" id="{676BAD7D-6C20-ADD8-0ABD-0114F63E6A93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BottomBar2">
              <a:extLst>
                <a:ext uri="{FF2B5EF4-FFF2-40B4-BE49-F238E27FC236}">
                  <a16:creationId xmlns:a16="http://schemas.microsoft.com/office/drawing/2014/main" id="{C6E3B8F5-2A60-230B-2501-C7F835E6C5C4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BottomBar3">
              <a:extLst>
                <a:ext uri="{FF2B5EF4-FFF2-40B4-BE49-F238E27FC236}">
                  <a16:creationId xmlns:a16="http://schemas.microsoft.com/office/drawing/2014/main" id="{C1A025AF-7DAE-7507-F4A8-6B70EB89A108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BottomBar4">
              <a:extLst>
                <a:ext uri="{FF2B5EF4-FFF2-40B4-BE49-F238E27FC236}">
                  <a16:creationId xmlns:a16="http://schemas.microsoft.com/office/drawing/2014/main" id="{407EC1AB-8301-FA6A-1FCF-29C993C1B48D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BottomBar5">
              <a:extLst>
                <a:ext uri="{FF2B5EF4-FFF2-40B4-BE49-F238E27FC236}">
                  <a16:creationId xmlns:a16="http://schemas.microsoft.com/office/drawing/2014/main" id="{43C10960-0D22-BE06-70A3-6B4D06577346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2272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</a:t>
            </a:r>
            <a:r>
              <a:rPr lang="en-US"/>
              <a:t>5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Assessment Report + 3 Transformation Roadmaps per Pillar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4D2F8-A58A-F222-030C-E25ED33E3A3E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0A1C822A-20AA-2D97-57E1-AB6FCEAB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What We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471" y="1041743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 b="1"/>
              <a:t>4 comprehensive documents generated from the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03162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803162"/>
            <a:ext cx="27432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077482"/>
            <a:ext cx="2194560" cy="3200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9577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8040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AI Maturity</a:t>
            </a:r>
            <a:br/>
            <a:r>
              <a:t>Assessment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7642"/>
            <a:ext cx="2377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rPr sz="1100"/>
              <a:t>Overall assessment with scores for</a:t>
            </a:r>
            <a:br>
              <a:rPr sz="1100"/>
            </a:br>
            <a:r>
              <a:rPr sz="1100"/>
              <a:t>all 28 capabilities, gap analysis,</a:t>
            </a:r>
            <a:br>
              <a:rPr sz="1100"/>
            </a:br>
            <a:r>
              <a:rPr sz="1100"/>
              <a:t>critical findings, and strategic</a:t>
            </a:r>
            <a:br>
              <a:rPr sz="1100"/>
            </a:br>
            <a:r>
              <a:rPr sz="1100"/>
              <a:t>recommendations (S1-S7)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803162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1803162"/>
            <a:ext cx="2743200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74720" y="2077482"/>
            <a:ext cx="2194560" cy="3200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09577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P1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58040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Part 1: Developer</a:t>
            </a:r>
            <a:br/>
            <a:r>
              <a:t>Productivity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57642"/>
            <a:ext cx="2377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rPr sz="1100"/>
              <a:t>8 capabilities with detailed</a:t>
            </a:r>
            <a:br>
              <a:rPr sz="1100"/>
            </a:br>
            <a:r>
              <a:rPr sz="1100"/>
              <a:t>H1/H2/H3 initiatives, investments,</a:t>
            </a:r>
            <a:br>
              <a:rPr sz="1100"/>
            </a:br>
            <a:r>
              <a:rPr sz="1100"/>
              <a:t>KPIs, and success metrics</a:t>
            </a:r>
            <a:br>
              <a:rPr sz="1100"/>
            </a:br>
            <a:r>
              <a:rPr sz="1100"/>
              <a:t>for developer 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803162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1803162"/>
            <a:ext cx="27432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2077482"/>
            <a:ext cx="219456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09577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P2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8040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Part 2: DevOps</a:t>
            </a:r>
            <a:br/>
            <a:r>
              <a:t>Lifecycle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357642"/>
            <a:ext cx="2377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rPr sz="1100"/>
              <a:t>10 capabilities with DORA targets,</a:t>
            </a:r>
            <a:br>
              <a:rPr sz="1100"/>
            </a:br>
            <a:r>
              <a:rPr sz="1100"/>
              <a:t>CI/CD migration plan, security</a:t>
            </a:r>
            <a:br>
              <a:rPr sz="1100"/>
            </a:br>
            <a:r>
              <a:rPr sz="1100"/>
              <a:t>automation, and agentic DevOps</a:t>
            </a:r>
            <a:br>
              <a:rPr sz="1100"/>
            </a:br>
            <a:r>
              <a:rPr sz="1100"/>
              <a:t>transformation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1803162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52560" y="1803162"/>
            <a:ext cx="2743200" cy="73152"/>
          </a:xfrm>
          <a:prstGeom prst="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326880" y="2077482"/>
            <a:ext cx="2194560" cy="320040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0" y="209577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P3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8040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Part 3: Application</a:t>
            </a:r>
            <a:br/>
            <a:r>
              <a:t>Platform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357642"/>
            <a:ext cx="2377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rPr sz="1100"/>
              <a:t>10 capabilities with PE team plan,</a:t>
            </a:r>
            <a:br>
              <a:rPr sz="1100"/>
            </a:br>
            <a:r>
              <a:rPr sz="1100"/>
              <a:t>IDP implementation, MLOps maturity,</a:t>
            </a:r>
            <a:r>
              <a:rPr lang="en-US" sz="1100"/>
              <a:t> </a:t>
            </a:r>
            <a:r>
              <a:rPr sz="1100"/>
              <a:t>AI agents, and platform engineering</a:t>
            </a:r>
            <a:r>
              <a:rPr lang="en-US" sz="1100"/>
              <a:t> </a:t>
            </a:r>
            <a:r>
              <a:rPr sz="1100"/>
              <a:t>transformation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22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42" name="Picture 41" descr="A black and yellow logo&#10;&#10;AI-generated content may be incorrect.">
            <a:extLst>
              <a:ext uri="{FF2B5EF4-FFF2-40B4-BE49-F238E27FC236}">
                <a16:creationId xmlns:a16="http://schemas.microsoft.com/office/drawing/2014/main" id="{8FE5A363-45FE-C0AF-D98C-032B8A7D8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3DD75C8C-3E7F-F246-532C-1620E0F03CA9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ooterText">
            <a:extLst>
              <a:ext uri="{FF2B5EF4-FFF2-40B4-BE49-F238E27FC236}">
                <a16:creationId xmlns:a16="http://schemas.microsoft.com/office/drawing/2014/main" id="{E8E4B5B6-4753-B418-A269-E2D64EB33859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01A84A-0C50-14F1-B530-0A2B6EAABD80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19" name="BottomBar1">
              <a:extLst>
                <a:ext uri="{FF2B5EF4-FFF2-40B4-BE49-F238E27FC236}">
                  <a16:creationId xmlns:a16="http://schemas.microsoft.com/office/drawing/2014/main" id="{1C9D5906-B3CC-C782-CC78-DD5FBB02BB11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BottomBar2">
              <a:extLst>
                <a:ext uri="{FF2B5EF4-FFF2-40B4-BE49-F238E27FC236}">
                  <a16:creationId xmlns:a16="http://schemas.microsoft.com/office/drawing/2014/main" id="{8935F50A-D2A7-0D44-60AA-536709BFBD46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BottomBar3">
              <a:extLst>
                <a:ext uri="{FF2B5EF4-FFF2-40B4-BE49-F238E27FC236}">
                  <a16:creationId xmlns:a16="http://schemas.microsoft.com/office/drawing/2014/main" id="{93EC6944-A369-3A05-1E4C-C4FF22088996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BottomBar4">
              <a:extLst>
                <a:ext uri="{FF2B5EF4-FFF2-40B4-BE49-F238E27FC236}">
                  <a16:creationId xmlns:a16="http://schemas.microsoft.com/office/drawing/2014/main" id="{A44D85A5-2E39-BD00-BEB1-C6D48221530E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BottomBar5">
              <a:extLst>
                <a:ext uri="{FF2B5EF4-FFF2-40B4-BE49-F238E27FC236}">
                  <a16:creationId xmlns:a16="http://schemas.microsoft.com/office/drawing/2014/main" id="{181533A1-C26A-4D30-7A71-5A294120B20B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73444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Example: Assessment Report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41361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lang="en-US" sz="1600" b="1"/>
              <a:t>Sample </a:t>
            </a:r>
            <a:r>
              <a:rPr sz="1600" b="1"/>
              <a:t>example from </a:t>
            </a:r>
            <a:r>
              <a:rPr lang="en-US" sz="1600" b="1"/>
              <a:t>Contoso </a:t>
            </a:r>
            <a:r>
              <a:rPr sz="1600" b="1"/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7953"/>
            <a:ext cx="11247120" cy="91440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367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Segoe UI"/>
              </a:defRPr>
            </a:pPr>
            <a:r>
              <a:t>OVERALL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371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13438"/>
                </a:solidFill>
                <a:latin typeface="Segoe UI"/>
              </a:defRPr>
            </a:pPr>
            <a:r>
              <a:t>L1.7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515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404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23713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L4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6943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Gap: +2.3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0367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Segoe UI"/>
              </a:defRPr>
            </a:pPr>
            <a:r>
              <a:t>P1: Dev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371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L1.2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515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404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3713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L4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6943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Gap: +2.8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0367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Segoe UI"/>
              </a:defRPr>
            </a:pPr>
            <a:r>
              <a:t>P2: DevOps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371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L1.8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01515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404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923713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6943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Gap: +2.2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60367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4040"/>
                </a:solidFill>
                <a:latin typeface="Segoe UI"/>
              </a:defRPr>
            </a:pPr>
            <a:r>
              <a:t>P3: App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2371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3B8F"/>
                </a:solidFill>
                <a:latin typeface="Segoe UI"/>
              </a:defRPr>
            </a:pPr>
            <a:r>
              <a:t>L2.1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01515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404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1923713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L4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196943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Gap: +1.9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655235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Capability Detail (Example - </a:t>
            </a:r>
            <a:r>
              <a:rPr lang="en-US"/>
              <a:t>Contoso</a:t>
            </a:r>
            <a:r>
              <a:t>| 2,430 developers | XL)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72196"/>
            <a:ext cx="45720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1904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172196"/>
            <a:ext cx="8229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31904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172196"/>
            <a:ext cx="8229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31904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Target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172196"/>
            <a:ext cx="64008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03720" y="31904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3172196"/>
            <a:ext cx="41148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35240" y="31904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Key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37956"/>
            <a:ext cx="45720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0" y="353795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0" y="353795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58000" y="3537956"/>
            <a:ext cx="64008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89520" y="3537956"/>
            <a:ext cx="41148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5745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1.1 AI Coding Assistants &amp; Copilot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35745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5745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5745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5745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645 licenses, 24% penetration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03716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9200" y="390371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00" y="390371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58000" y="3903716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589520" y="3903716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39402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2.3 Security Scanning &amp; Compliance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39402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39402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39402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2.0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9402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Checkmarx bottleneck (1-month delays)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269476"/>
            <a:ext cx="45720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029200" y="426947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43600" y="426947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858000" y="4269476"/>
            <a:ext cx="64008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89520" y="4269476"/>
            <a:ext cx="41148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43060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2.9 Agentic DevOps &amp; SRE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43060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L0.0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43060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43060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4.0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30605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Zero AI agents deployed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635236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029200" y="463523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43600" y="463523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858000" y="4635236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589520" y="4635236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2920" y="46718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3.2 Platform Engineering &amp; IDP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74920" y="46718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L0.5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89320" y="46718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46718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3.5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46718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0 PE engineers, no IDP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000996"/>
            <a:ext cx="45720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029200" y="500099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943600" y="500099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858000" y="5000996"/>
            <a:ext cx="64008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589520" y="5000996"/>
            <a:ext cx="41148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50375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3.3 AI/ML Operations (MLOps)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74920" y="50375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89320" y="50375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50375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1.0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35240" y="50375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Databricks, Unity Catalog, MLflow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366756"/>
            <a:ext cx="4572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029200" y="536675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943600" y="5366756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858000" y="5366756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589520" y="5366756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02920" y="54033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3.6 AI Agents &amp; Orchestration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74920" y="54033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L2.5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89320" y="54033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03720" y="54033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1.5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35240" y="54033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LangChain, Semantic Kernel in prod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732516"/>
            <a:ext cx="45720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029200" y="573251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5943600" y="5732516"/>
            <a:ext cx="822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858000" y="5732516"/>
            <a:ext cx="64008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7589520" y="5732516"/>
            <a:ext cx="411480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02920" y="57690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3.10 Cost Optimization &amp; FinOps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74920" y="57690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3232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89320" y="57690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03720" y="57690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1.0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35240" y="57690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Cloudability, FinOps established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23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pic>
        <p:nvPicPr>
          <p:cNvPr id="112" name="Picture 111" descr="A black and yellow logo&#10;&#10;AI-generated content may be incorrect.">
            <a:extLst>
              <a:ext uri="{FF2B5EF4-FFF2-40B4-BE49-F238E27FC236}">
                <a16:creationId xmlns:a16="http://schemas.microsoft.com/office/drawing/2014/main" id="{F8C493F7-E0EA-BC18-A7BD-24F545297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456A0810-B180-1C82-E54F-63C8964D1EBB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FooterText">
            <a:extLst>
              <a:ext uri="{FF2B5EF4-FFF2-40B4-BE49-F238E27FC236}">
                <a16:creationId xmlns:a16="http://schemas.microsoft.com/office/drawing/2014/main" id="{F962D2E2-4E86-8A18-24A4-35B8D61962AF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31EFBCD-B1FA-E52D-E331-4DCBA842DE25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110" name="BottomBar1">
              <a:extLst>
                <a:ext uri="{FF2B5EF4-FFF2-40B4-BE49-F238E27FC236}">
                  <a16:creationId xmlns:a16="http://schemas.microsoft.com/office/drawing/2014/main" id="{791724C9-0CEA-BAEF-F607-1CC959FE15F0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BottomBar2">
              <a:extLst>
                <a:ext uri="{FF2B5EF4-FFF2-40B4-BE49-F238E27FC236}">
                  <a16:creationId xmlns:a16="http://schemas.microsoft.com/office/drawing/2014/main" id="{CD556391-C3B6-0C93-3507-9BEAF0134A0D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BottomBar3">
              <a:extLst>
                <a:ext uri="{FF2B5EF4-FFF2-40B4-BE49-F238E27FC236}">
                  <a16:creationId xmlns:a16="http://schemas.microsoft.com/office/drawing/2014/main" id="{B754CE3C-3349-F20B-47C9-E82A267DDCE3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BottomBar4">
              <a:extLst>
                <a:ext uri="{FF2B5EF4-FFF2-40B4-BE49-F238E27FC236}">
                  <a16:creationId xmlns:a16="http://schemas.microsoft.com/office/drawing/2014/main" id="{6D0423E9-C108-01A2-11A1-AF72252AE7E2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BottomBar5">
              <a:extLst>
                <a:ext uri="{FF2B5EF4-FFF2-40B4-BE49-F238E27FC236}">
                  <a16:creationId xmlns:a16="http://schemas.microsoft.com/office/drawing/2014/main" id="{42AB52B0-7C59-8F70-A790-E14799764E42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83234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Transformation Roadmap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57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t>Each roadmap follows the same 3-</a:t>
            </a:r>
            <a:r>
              <a:rPr lang="en-US"/>
              <a:t>Phases</a:t>
            </a:r>
            <a:r>
              <a:t> structure across 36 months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272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27200"/>
            <a:ext cx="356616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729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H1: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6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Segoe UI"/>
              </a:defRPr>
            </a:pPr>
            <a:r>
              <a:t>Months 0-6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504440"/>
            <a:ext cx="1371600" cy="27432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522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QUICK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Segoe UI"/>
              </a:defRPr>
            </a:pPr>
            <a:r>
              <a:t>Establish AI foundations,</a:t>
            </a:r>
            <a:br/>
            <a:r>
              <a:t>deploy core tools,</a:t>
            </a:r>
            <a:br/>
            <a:r>
              <a:t>create baselines,</a:t>
            </a:r>
            <a:br/>
            <a:r>
              <a:t>train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04640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9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Initiatives: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70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t>Copilot Enterprise</a:t>
            </a:r>
            <a:br/>
            <a:r>
              <a:t>GHAS deployment</a:t>
            </a:r>
            <a:br/>
            <a:r>
              <a:t>Dev Containers</a:t>
            </a:r>
            <a:br/>
            <a:r>
              <a:t>DORA metrics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7272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727200"/>
            <a:ext cx="3566160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7729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H2: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6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Segoe UI"/>
              </a:defRPr>
            </a:pPr>
            <a:r>
              <a:t>Months 6-18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2504440"/>
            <a:ext cx="13716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60" y="2522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ACCELERATE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1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Segoe UI"/>
              </a:defRPr>
            </a:pPr>
            <a:r>
              <a:t>Scale AI adoption,</a:t>
            </a:r>
            <a:br/>
            <a:r>
              <a:t>build platforms,</a:t>
            </a:r>
            <a:br/>
            <a:r>
              <a:t>automate at scale,</a:t>
            </a:r>
            <a:br/>
            <a:r>
              <a:t>measure 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104640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419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Initiatives: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70400"/>
            <a:ext cx="3200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t>IDP (</a:t>
            </a:r>
            <a:r>
              <a:rPr lang="en-US"/>
              <a:t>Backstage or RH Developer Hub</a:t>
            </a:r>
            <a:r>
              <a:t>)</a:t>
            </a:r>
            <a:br>
              <a:rPr/>
            </a:br>
            <a:r>
              <a:t>AI-powered testing</a:t>
            </a:r>
            <a:br>
              <a:rPr/>
            </a:br>
            <a:r>
              <a:t>AIOps implementation</a:t>
            </a:r>
            <a:br>
              <a:rPr/>
            </a:br>
            <a:r>
              <a:t>GitOps at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72720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1727200"/>
            <a:ext cx="3566160" cy="640080"/>
          </a:xfrm>
          <a:prstGeom prst="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17729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H3: Transform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65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Segoe UI"/>
              </a:defRPr>
            </a:pPr>
            <a:r>
              <a:t>Months 18-36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504440"/>
            <a:ext cx="1371600" cy="274320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25227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AUTONOMOUS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1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Segoe UI"/>
              </a:defRPr>
            </a:pPr>
            <a:r>
              <a:t>Achieve autonomous ops,</a:t>
            </a:r>
            <a:br/>
            <a:r>
              <a:t>multi-agent systems,</a:t>
            </a:r>
            <a:br/>
            <a:r>
              <a:t>self-healing infra,</a:t>
            </a:r>
            <a:br/>
            <a:r>
              <a:t>predictive 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4104640"/>
            <a:ext cx="320040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419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Initiatives: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470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t>Autonomous code gen</a:t>
            </a:r>
            <a:br/>
            <a:r>
              <a:t>Multi-agent DevOps</a:t>
            </a:r>
            <a:br/>
            <a:r>
              <a:t>Self-healing systems</a:t>
            </a:r>
            <a:br/>
            <a:r>
              <a:t>Predictive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24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6C9271-79C2-BEA8-D999-AC6F832116A1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A black and yellow logo&#10;&#10;AI-generated content may be incorrect.">
            <a:extLst>
              <a:ext uri="{FF2B5EF4-FFF2-40B4-BE49-F238E27FC236}">
                <a16:creationId xmlns:a16="http://schemas.microsoft.com/office/drawing/2014/main" id="{BF5C77B5-C878-69B8-33A5-EE0653ACC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FBADD636-DF71-C65C-6690-EF1268FC9DE6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FooterText">
            <a:extLst>
              <a:ext uri="{FF2B5EF4-FFF2-40B4-BE49-F238E27FC236}">
                <a16:creationId xmlns:a16="http://schemas.microsoft.com/office/drawing/2014/main" id="{7F55D152-5F34-6F90-D50A-B194EE2654A7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1D0C8A-87B1-271B-EA79-CE0378D4763C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39" name="BottomBar1">
              <a:extLst>
                <a:ext uri="{FF2B5EF4-FFF2-40B4-BE49-F238E27FC236}">
                  <a16:creationId xmlns:a16="http://schemas.microsoft.com/office/drawing/2014/main" id="{0A8093A1-E165-24C6-18BE-758C22729FB4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BottomBar2">
              <a:extLst>
                <a:ext uri="{FF2B5EF4-FFF2-40B4-BE49-F238E27FC236}">
                  <a16:creationId xmlns:a16="http://schemas.microsoft.com/office/drawing/2014/main" id="{CC117CE2-F7D8-79E1-ADA5-EB9F752AE9B1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BottomBar3">
              <a:extLst>
                <a:ext uri="{FF2B5EF4-FFF2-40B4-BE49-F238E27FC236}">
                  <a16:creationId xmlns:a16="http://schemas.microsoft.com/office/drawing/2014/main" id="{D25ECD96-DFC3-AAFB-6101-43D0255194BB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BottomBar4">
              <a:extLst>
                <a:ext uri="{FF2B5EF4-FFF2-40B4-BE49-F238E27FC236}">
                  <a16:creationId xmlns:a16="http://schemas.microsoft.com/office/drawing/2014/main" id="{D4867850-E049-6084-56D2-19D79EB756C3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BottomBar5">
              <a:extLst>
                <a:ext uri="{FF2B5EF4-FFF2-40B4-BE49-F238E27FC236}">
                  <a16:creationId xmlns:a16="http://schemas.microsoft.com/office/drawing/2014/main" id="{D5BCD620-FF11-C9C0-C42B-C7723D328CE0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10751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Example: P1 Developer Productivity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78034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lang="en-US" sz="1600" b="1"/>
              <a:t>Contoso</a:t>
            </a:r>
            <a:r>
              <a:rPr sz="1600" b="1"/>
              <a:t>: L1.2 → L4.0 across 8 capabilities over 36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2064"/>
            <a:ext cx="31089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10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692064"/>
            <a:ext cx="12801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710352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2064"/>
            <a:ext cx="17373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1710352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H1 Target (6m)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692064"/>
            <a:ext cx="17373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710352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H2 Target (18m)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692064"/>
            <a:ext cx="173736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1710352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H3 Target (36m)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57824"/>
            <a:ext cx="3108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094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1.1 AI Coding Assistants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057824"/>
            <a:ext cx="12801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03320" y="20944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05782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20944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05782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20944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05782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2520" y="20944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23584"/>
            <a:ext cx="3108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46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1.2 Dev Environment Std.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423584"/>
            <a:ext cx="12801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24601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242358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246016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42358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246016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242358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2520" y="246016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89344"/>
            <a:ext cx="3108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282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1.3 Code Review Automation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2789344"/>
            <a:ext cx="12801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03320" y="28259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L1.5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278934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74920" y="28259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278934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03720" y="28259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278934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2520" y="28259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155104"/>
            <a:ext cx="3108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319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1.4 Testing &amp; Test Gen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3155104"/>
            <a:ext cx="12801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03320" y="31916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L1.5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315510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74920" y="31916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15510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03720" y="31916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315510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2520" y="319168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520864"/>
            <a:ext cx="3108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355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1.5 Knowledge Management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3520864"/>
            <a:ext cx="12801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03320" y="355744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L1.0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0" y="352086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74920" y="355744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352086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03720" y="355744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52086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2520" y="355744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886624"/>
            <a:ext cx="3108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392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1.6 Developer Experience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0" y="3886624"/>
            <a:ext cx="12801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03320" y="39232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L1.0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0" y="388662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74920" y="39232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388662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903720" y="39232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0" y="388662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2520" y="392320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252384"/>
            <a:ext cx="31089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428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1.7 Onboarding &amp; Productivity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0" y="4252384"/>
            <a:ext cx="12801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03320" y="42889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L1.0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0" y="425238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74920" y="428896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58000" y="425238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903720" y="428896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0" y="4252384"/>
            <a:ext cx="1737360" cy="3474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732520" y="428896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618144"/>
            <a:ext cx="3108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02920" y="465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1.8 Code Quality &amp; Tech Debt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0" y="4618144"/>
            <a:ext cx="12801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703320" y="46547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L2.0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9200" y="461814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074920" y="46547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L2.5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58000" y="461814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903720" y="46547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L3.5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0" y="461814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732520" y="465472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50753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Key KPI Evolution: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54411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3232"/>
                </a:solidFill>
                <a:latin typeface="Segoe UI"/>
              </a:defRPr>
            </a:pPr>
            <a:r>
              <a:t>Copilot Adoption: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0" y="5441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t>30% → 60% → 80% → 90%+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6480" y="54411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3232"/>
                </a:solidFill>
                <a:latin typeface="Segoe UI"/>
              </a:defRPr>
            </a:pPr>
            <a:r>
              <a:t>Time to First Commit: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12480" y="5441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t>6-7 days → 3-4 days → 2 days → 1 day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5806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3232"/>
                </a:solidFill>
                <a:latin typeface="Segoe UI"/>
              </a:defRPr>
            </a:pPr>
            <a:r>
              <a:t>PR Review Cycle: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3200" y="580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t>5 hours → 3 hours → 2 hours → &lt;1 hour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26480" y="58068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23232"/>
                </a:solidFill>
                <a:latin typeface="Segoe UI"/>
              </a:defRPr>
            </a:pPr>
            <a:r>
              <a:t>Non-coding Time: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0" y="580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4040"/>
                </a:solidFill>
                <a:latin typeface="Segoe UI"/>
              </a:defRPr>
            </a:pPr>
            <a:r>
              <a:t>30% → 25% → 15% → &lt;10%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25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3253099-5C51-B1B8-940F-1FE725DEF8CF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9" name="Picture 108" descr="A black and yellow logo&#10;&#10;AI-generated content may be incorrect.">
            <a:extLst>
              <a:ext uri="{FF2B5EF4-FFF2-40B4-BE49-F238E27FC236}">
                <a16:creationId xmlns:a16="http://schemas.microsoft.com/office/drawing/2014/main" id="{64299432-C9B6-EF92-A38D-2B314BE87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08F4D4C6-C1FB-1540-A9E0-28210C75B41B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FooterText">
            <a:extLst>
              <a:ext uri="{FF2B5EF4-FFF2-40B4-BE49-F238E27FC236}">
                <a16:creationId xmlns:a16="http://schemas.microsoft.com/office/drawing/2014/main" id="{84FC286F-71B8-1D82-7340-A821D86D2802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47BDD1D-64FC-4A47-9D47-EA2F9F0AFAF3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108" name="BottomBar1">
              <a:extLst>
                <a:ext uri="{FF2B5EF4-FFF2-40B4-BE49-F238E27FC236}">
                  <a16:creationId xmlns:a16="http://schemas.microsoft.com/office/drawing/2014/main" id="{DED0AD30-7AB9-A729-9435-FF3330DF23AC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BottomBar2">
              <a:extLst>
                <a:ext uri="{FF2B5EF4-FFF2-40B4-BE49-F238E27FC236}">
                  <a16:creationId xmlns:a16="http://schemas.microsoft.com/office/drawing/2014/main" id="{2FE89431-0D80-68F0-5CD8-055CE71E4DFA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BottomBar3">
              <a:extLst>
                <a:ext uri="{FF2B5EF4-FFF2-40B4-BE49-F238E27FC236}">
                  <a16:creationId xmlns:a16="http://schemas.microsoft.com/office/drawing/2014/main" id="{E8E16147-6989-3B11-9784-68E53D30CD23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BottomBar4">
              <a:extLst>
                <a:ext uri="{FF2B5EF4-FFF2-40B4-BE49-F238E27FC236}">
                  <a16:creationId xmlns:a16="http://schemas.microsoft.com/office/drawing/2014/main" id="{10900991-8BA5-80C3-865E-BB3807113AA3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BottomBar5">
              <a:extLst>
                <a:ext uri="{FF2B5EF4-FFF2-40B4-BE49-F238E27FC236}">
                  <a16:creationId xmlns:a16="http://schemas.microsoft.com/office/drawing/2014/main" id="{0E6B02A1-1689-AA21-6130-3993A6713DDB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31370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Example: P2 DevOps Lifecycle - DORA Metrics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9512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lang="en-US" sz="1600" b="1"/>
              <a:t>Contoso</a:t>
            </a:r>
            <a:r>
              <a:rPr sz="1600" b="1"/>
              <a:t>: L1.8 → L4.0 with critical Agentic DevOps gap (L0 → L4)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74320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Deployment</a:t>
            </a:r>
            <a:br/>
            <a:r>
              <a:t>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2194560" cy="4572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42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Current: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8337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249/day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H1 (6m)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On-demand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H2 (18m)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4903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Continuous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H3 (36m)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Autonomous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237744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Current tracking exists</a:t>
            </a:r>
            <a:br/>
            <a:r>
              <a:t>but no formal targets 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182880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0" y="1828800"/>
            <a:ext cx="274320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Lead Time</a:t>
            </a:r>
            <a:br/>
            <a:r>
              <a:t>for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2560320"/>
            <a:ext cx="2194560" cy="4572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2542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Current: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68337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3-4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00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H1 (6m)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200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1-2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7490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H2 (18m)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4903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1-3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297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H3 (36m)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2976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&lt;1 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937760"/>
            <a:ext cx="237744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SOX compliance and</a:t>
            </a:r>
            <a:br/>
            <a:r>
              <a:t>manual approvals drive delay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82880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80" y="1828800"/>
            <a:ext cx="274320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Change</a:t>
            </a:r>
            <a:br/>
            <a:r>
              <a:t>Failure 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560320"/>
            <a:ext cx="2194560" cy="4572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542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Current: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68337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200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H1 (6m)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200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7490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H2 (18m)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374903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297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H3 (36m)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2976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&lt;5%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937760"/>
            <a:ext cx="237744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0" y="502920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Critical gap - needs</a:t>
            </a:r>
            <a:br>
              <a:rPr/>
            </a:br>
            <a:r>
              <a:t>quality gates and automation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52560" y="182880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52560" y="1828800"/>
            <a:ext cx="274320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MTTR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0" y="2560320"/>
            <a:ext cx="2194560" cy="4572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0" y="2542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Current: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68337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~4 hours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200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H1 (6m)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3200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2 hours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7490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H2 (18m)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374903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30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4297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H3 (36m)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42976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&lt;15 min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5440" y="4937760"/>
            <a:ext cx="237744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35440" y="5029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04040"/>
                </a:solidFill>
                <a:latin typeface="Segoe UI"/>
              </a:defRPr>
            </a:pPr>
            <a:r>
              <a:t>Dynatrace AIOps can</a:t>
            </a:r>
            <a:br/>
            <a:r>
              <a:t>accelerate detection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26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5F12AF6-F5AF-8958-79BF-742E5F13AF6C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A black and yellow logo&#10;&#10;AI-generated content may be incorrect.">
            <a:extLst>
              <a:ext uri="{FF2B5EF4-FFF2-40B4-BE49-F238E27FC236}">
                <a16:creationId xmlns:a16="http://schemas.microsoft.com/office/drawing/2014/main" id="{3F1A4595-8B3E-FC2F-0A80-04B3DA6A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4F570F2C-80C5-0810-610F-373C2B778DB1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FooterText">
            <a:extLst>
              <a:ext uri="{FF2B5EF4-FFF2-40B4-BE49-F238E27FC236}">
                <a16:creationId xmlns:a16="http://schemas.microsoft.com/office/drawing/2014/main" id="{76D6D52C-103D-0295-C5E8-6B882BCFE2A9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2DBC63D-1112-9E30-1989-25FAE5B260F6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65" name="BottomBar1">
              <a:extLst>
                <a:ext uri="{FF2B5EF4-FFF2-40B4-BE49-F238E27FC236}">
                  <a16:creationId xmlns:a16="http://schemas.microsoft.com/office/drawing/2014/main" id="{428E94A4-C338-3DC8-4CF3-847C8412347E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BottomBar2">
              <a:extLst>
                <a:ext uri="{FF2B5EF4-FFF2-40B4-BE49-F238E27FC236}">
                  <a16:creationId xmlns:a16="http://schemas.microsoft.com/office/drawing/2014/main" id="{2BD1FBC7-E701-75E6-E67E-7021D35FA442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BottomBar3">
              <a:extLst>
                <a:ext uri="{FF2B5EF4-FFF2-40B4-BE49-F238E27FC236}">
                  <a16:creationId xmlns:a16="http://schemas.microsoft.com/office/drawing/2014/main" id="{46687FCA-B419-F67E-3E22-CE762F936BA3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BottomBar4">
              <a:extLst>
                <a:ext uri="{FF2B5EF4-FFF2-40B4-BE49-F238E27FC236}">
                  <a16:creationId xmlns:a16="http://schemas.microsoft.com/office/drawing/2014/main" id="{8164DE75-C04D-CEF4-FF8D-B3B482503F01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BottomBar5">
              <a:extLst>
                <a:ext uri="{FF2B5EF4-FFF2-40B4-BE49-F238E27FC236}">
                  <a16:creationId xmlns:a16="http://schemas.microsoft.com/office/drawing/2014/main" id="{EBED25DA-4092-1C14-85C0-10A2EA81ED5D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352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Example: P3 Application Platform -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222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lang="en-US" sz="1600" b="1"/>
              <a:t>Contoso</a:t>
            </a:r>
            <a:r>
              <a:rPr sz="1600" b="1"/>
              <a:t>: L2.1 → L4.0 | Highest maturity but critical Platform Engineering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95306"/>
            <a:ext cx="5486400" cy="2286000"/>
          </a:xfrm>
          <a:prstGeom prst="roundRect">
            <a:avLst/>
          </a:prstGeom>
          <a:solidFill>
            <a:srgbClr val="E6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8674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STRENGTHS (L3.0+)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250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MLOps L3.0 — Databricks, Unity Catalog, MLflow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254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Data Governance L3.0 — Purview + Unity Catalog 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258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FinOps L3.0 — Cloudability with AI recommendations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262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AI Agents L2.5 — LangChain, Semantic Kernel deployed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266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77 containerized apps running on 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95306"/>
            <a:ext cx="5486400" cy="2286000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8674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Segoe UI"/>
              </a:defRPr>
            </a:pPr>
            <a:r>
              <a:t>CRITICAL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5250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Platform Engineering L0.5 — 0 PE engineers, no IDP (Gap: 3.5)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254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DR &amp; BC L1.5 — Manual DR, annual testing only (Gap: 2.5)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258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Cloud Architecture L2.0 — Hybrid approach, needs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262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API Management L2.0 — Apigee X, no service mesh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3266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Self-service at 0% — All provisioning via manual tickets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787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Total Investment Estimate (36 months):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44472"/>
            <a:ext cx="27432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462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Pillar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4444472"/>
            <a:ext cx="18288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4462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H1 (0-6m)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444472"/>
            <a:ext cx="18288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4920" y="4462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H2 (6-18m)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4444472"/>
            <a:ext cx="201168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4462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H3 (18-36m)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4444472"/>
            <a:ext cx="274320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4462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10232"/>
            <a:ext cx="27432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8468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P1: Developer Productivity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810232"/>
            <a:ext cx="18288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46120" y="48468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$500K-750K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4810232"/>
            <a:ext cx="18288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48468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$750K-1M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810232"/>
            <a:ext cx="201168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03720" y="4846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$500K-750K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810232"/>
            <a:ext cx="27432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6840" y="48468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$1.75M-2.5M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157704"/>
            <a:ext cx="27432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51942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P2: DevOps Lifecycle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157704"/>
            <a:ext cx="18288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46120" y="5194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$400K-600K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5157704"/>
            <a:ext cx="18288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4920" y="5194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$600K-800K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5157704"/>
            <a:ext cx="201168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03720" y="5194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$400K-600K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5157704"/>
            <a:ext cx="27432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06840" y="51942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$1.4M-2.0M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505175"/>
            <a:ext cx="27432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554175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P3: Application Platform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5505175"/>
            <a:ext cx="18288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46120" y="554175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$400K-550K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5505175"/>
            <a:ext cx="18288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74920" y="554175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$550K-750K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5505175"/>
            <a:ext cx="201168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55417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$400K-550K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5505175"/>
            <a:ext cx="2743200" cy="32918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06840" y="554175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$1.35M-1.85M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852648"/>
            <a:ext cx="2743200" cy="32918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5889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5852648"/>
            <a:ext cx="1828800" cy="32918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46120" y="58892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$1.3M-1.9M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5852648"/>
            <a:ext cx="1828800" cy="32918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74920" y="58892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$1.9M-2.55M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5852648"/>
            <a:ext cx="2011680" cy="32918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03720" y="58892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$1.3M-1.9M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20" y="5852648"/>
            <a:ext cx="2743200" cy="32918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06840" y="5889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$4.5M-6.35M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27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DF1A3FA-0694-0792-0EB9-C6B8C8189AA5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A black and yellow logo&#10;&#10;AI-generated content may be incorrect.">
            <a:extLst>
              <a:ext uri="{FF2B5EF4-FFF2-40B4-BE49-F238E27FC236}">
                <a16:creationId xmlns:a16="http://schemas.microsoft.com/office/drawing/2014/main" id="{D27419C5-D45A-7996-560E-A8079B3D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1BDF8C18-F60E-B749-7B2F-7CEAD77D88DA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FooterText">
            <a:extLst>
              <a:ext uri="{FF2B5EF4-FFF2-40B4-BE49-F238E27FC236}">
                <a16:creationId xmlns:a16="http://schemas.microsoft.com/office/drawing/2014/main" id="{4F91CFF8-CD18-51CC-D1BC-A84DA7C6F1A5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6DD368C-6BE1-B4F1-37FB-F4FE6E23698E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74" name="BottomBar1">
              <a:extLst>
                <a:ext uri="{FF2B5EF4-FFF2-40B4-BE49-F238E27FC236}">
                  <a16:creationId xmlns:a16="http://schemas.microsoft.com/office/drawing/2014/main" id="{BB606DA4-C946-7084-E9C9-BFE9456FB9ED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BottomBar2">
              <a:extLst>
                <a:ext uri="{FF2B5EF4-FFF2-40B4-BE49-F238E27FC236}">
                  <a16:creationId xmlns:a16="http://schemas.microsoft.com/office/drawing/2014/main" id="{4ADEC87F-F092-1B0F-24EA-28006E02F064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BottomBar3">
              <a:extLst>
                <a:ext uri="{FF2B5EF4-FFF2-40B4-BE49-F238E27FC236}">
                  <a16:creationId xmlns:a16="http://schemas.microsoft.com/office/drawing/2014/main" id="{70A643D2-98EF-9F41-F326-9B695A0F7F59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BottomBar4">
              <a:extLst>
                <a:ext uri="{FF2B5EF4-FFF2-40B4-BE49-F238E27FC236}">
                  <a16:creationId xmlns:a16="http://schemas.microsoft.com/office/drawing/2014/main" id="{0D1F4857-2E92-988E-A83C-C5B0BB7A0DB9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BottomBar5">
              <a:extLst>
                <a:ext uri="{FF2B5EF4-FFF2-40B4-BE49-F238E27FC236}">
                  <a16:creationId xmlns:a16="http://schemas.microsoft.com/office/drawing/2014/main" id="{CD74D7D3-E5C1-83F3-F919-8074860CD81E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98591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</a:t>
            </a:r>
            <a:r>
              <a:rPr lang="en-US"/>
              <a:t>6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Transformation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Quick Wins (6m) → Acceleration (18m) → Full Transformation (36m)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D52C4-6BAD-8994-2715-89F20E41D27C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4434533B-DD15-5C0A-983A-537F8C6A3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0363" y="29183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4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From Quick Wins to Full AI Transformation across 3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33111"/>
            <a:ext cx="11247120" cy="457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0362" y="1533111"/>
            <a:ext cx="3207237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9121" y="1551399"/>
            <a:ext cx="2987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QUICK WINS</a:t>
            </a:r>
            <a:br>
              <a:rPr/>
            </a:br>
            <a:r>
              <a:t>0-6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33111"/>
            <a:ext cx="41148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155139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ACCELERATION</a:t>
            </a:r>
            <a:br/>
            <a:r>
              <a:t>6-18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533111"/>
            <a:ext cx="3931920" cy="457200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55139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TRANSFORMATION</a:t>
            </a:r>
            <a:br/>
            <a:r>
              <a:t>18-36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968" y="2173191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1688" y="21914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P1: Dev Productivity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408" y="253895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L1.2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408" y="2721831"/>
            <a:ext cx="6400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04040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2189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Copilot Enterprise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47494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Dev Containers + Codespaces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730975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Copilot training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98700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GHAS in code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252182"/>
            <a:ext cx="457200" cy="201168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326132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21891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Copilot Workspace (agentic)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47494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IDP launch (RHDH)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73097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AI test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98700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RAG knowledge assistant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252182"/>
            <a:ext cx="457200" cy="20116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326132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L3.5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2189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Autonomous code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47494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Self-healing environments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730975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Zero-touch onboarding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98700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AI-native platform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3252182"/>
            <a:ext cx="457200" cy="201168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0" y="326132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968" y="3544791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1688" y="356307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P2: DevOps Lifecycle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7408" y="391055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L1.8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7407" y="4093431"/>
            <a:ext cx="64008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04040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5905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GitHub Actions migration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84654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GHAS deployment (100%)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410257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DORA metrics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4358607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GitOps foundation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623783"/>
            <a:ext cx="457200" cy="201168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0" y="46329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L2.5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359051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AI-optimized CI/CD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384654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AIOps implementation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10257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AI agents for 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358607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Policy-as-code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0" y="4623783"/>
            <a:ext cx="457200" cy="20116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49440" y="46329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L3.5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5905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Self-optimizing pipelines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84654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Autonomous SRE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10257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Multi-agent DevOps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358607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Self-healing infra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332720" y="4623783"/>
            <a:ext cx="457200" cy="201168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32720" y="46329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968" y="4916391"/>
            <a:ext cx="2011680" cy="320040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51688" y="49346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P3: App 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7408" y="528215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13438"/>
                </a:solidFill>
                <a:latin typeface="Segoe UI"/>
              </a:defRPr>
            </a:pPr>
            <a:r>
              <a:t>L2.1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7408" y="5465031"/>
            <a:ext cx="6400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04040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7440" y="49621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PE team formation (2-3)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521814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RHDH evaluation &amp; POC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7440" y="547417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DR automation (Tier-1)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440" y="5730207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AI Foundry pilot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83280" y="5995383"/>
            <a:ext cx="457200" cy="201168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383280" y="60045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L2.5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496211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Full IDP deployment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0" y="521814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Multi-agent orchestration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47417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Service mesh (Istio)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5730207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Multi-region active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949440" y="5995383"/>
            <a:ext cx="457200" cy="20116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949440" y="60045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L3.5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49621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AI-native platform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5218143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Autonomous governance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547417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Self-managing APIs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5730207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23232"/>
                </a:solidFill>
                <a:latin typeface="Segoe UI"/>
              </a:defRPr>
            </a:pPr>
            <a:r>
              <a:t>  Predictive resilience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332720" y="5995383"/>
            <a:ext cx="457200" cy="201168"/>
          </a:xfrm>
          <a:prstGeom prst="round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32720" y="600452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L4.0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29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F2FF30B-0736-62B2-B15B-2DA0B67394F4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A black and yellow logo&#10;&#10;AI-generated content may be incorrect.">
            <a:extLst>
              <a:ext uri="{FF2B5EF4-FFF2-40B4-BE49-F238E27FC236}">
                <a16:creationId xmlns:a16="http://schemas.microsoft.com/office/drawing/2014/main" id="{B191499A-688B-A762-7861-8CA7A5005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C34EFB79-5F42-6BC2-F6DA-99AA9807039B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FooterText">
            <a:extLst>
              <a:ext uri="{FF2B5EF4-FFF2-40B4-BE49-F238E27FC236}">
                <a16:creationId xmlns:a16="http://schemas.microsoft.com/office/drawing/2014/main" id="{97A735D8-7555-1C08-27A3-1574702FECE8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826AF6B-72C2-BCAC-042E-F85DB775BC4D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82" name="BottomBar1">
              <a:extLst>
                <a:ext uri="{FF2B5EF4-FFF2-40B4-BE49-F238E27FC236}">
                  <a16:creationId xmlns:a16="http://schemas.microsoft.com/office/drawing/2014/main" id="{FD4D955F-A7B1-F32E-A069-EDBCFCCDFB2B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BottomBar2">
              <a:extLst>
                <a:ext uri="{FF2B5EF4-FFF2-40B4-BE49-F238E27FC236}">
                  <a16:creationId xmlns:a16="http://schemas.microsoft.com/office/drawing/2014/main" id="{CF85DA76-4641-EAC2-645B-2C28CFB25B15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BottomBar3">
              <a:extLst>
                <a:ext uri="{FF2B5EF4-FFF2-40B4-BE49-F238E27FC236}">
                  <a16:creationId xmlns:a16="http://schemas.microsoft.com/office/drawing/2014/main" id="{C5F602B6-02D5-0827-0C15-91EB2649E90E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BottomBar4">
              <a:extLst>
                <a:ext uri="{FF2B5EF4-FFF2-40B4-BE49-F238E27FC236}">
                  <a16:creationId xmlns:a16="http://schemas.microsoft.com/office/drawing/2014/main" id="{D60AE12A-D176-D14E-A8F1-59E9F4030776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BottomBar5">
              <a:extLst>
                <a:ext uri="{FF2B5EF4-FFF2-40B4-BE49-F238E27FC236}">
                  <a16:creationId xmlns:a16="http://schemas.microsoft.com/office/drawing/2014/main" id="{E87C31F5-A2EF-B14B-DCA0-FE57A0698703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54878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</a:t>
            </a:r>
            <a:r>
              <a:rPr lang="en-US"/>
              <a:t>7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ATU/STU</a:t>
            </a:r>
            <a:r>
              <a:rPr lang="en-US"/>
              <a:t>/CSU</a:t>
            </a:r>
            <a:r>
              <a:t> Action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How to Prioritize, Plan, and Execute the Transformation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2D4A4-9141-E4F2-655C-8414063D9292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5702AEBB-8102-B8ED-4E1A-2E989E96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ATU/STU</a:t>
            </a:r>
            <a:r>
              <a:rPr lang="en-US"/>
              <a:t>/CSU</a:t>
            </a:r>
            <a:r>
              <a:t>: From Report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7713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Using the 3 Transformation Roadmaps to build the Implementation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2511796"/>
            <a:ext cx="320040" cy="5486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588" y="1688836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1</a:t>
            </a:r>
            <a:endParaRPr sz="2400" b="1"/>
          </a:p>
        </p:txBody>
      </p:sp>
      <p:sp>
        <p:nvSpPr>
          <p:cNvPr id="8" name="TextBox 7"/>
          <p:cNvSpPr txBox="1"/>
          <p:nvPr/>
        </p:nvSpPr>
        <p:spPr>
          <a:xfrm>
            <a:off x="274320" y="237463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RECEIVE</a:t>
            </a:r>
            <a:br/>
            <a:r>
              <a:t>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0436"/>
            <a:ext cx="1920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rPr b="1"/>
              <a:t>GBB</a:t>
            </a:r>
            <a:r>
              <a:rPr lang="en-US" b="1"/>
              <a:t> + Partners</a:t>
            </a:r>
            <a:r>
              <a:rPr b="1"/>
              <a:t> </a:t>
            </a:r>
            <a:br>
              <a:rPr lang="en-US"/>
            </a:br>
            <a:r>
              <a:t>delivers the Assessment</a:t>
            </a:r>
            <a:br>
              <a:rPr/>
            </a:br>
            <a:r>
              <a:t>Report + 3 Transformation</a:t>
            </a:r>
            <a:br>
              <a:rPr/>
            </a:br>
            <a:r>
              <a:t>Roadmaps (P1, P2, P3)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511796"/>
            <a:ext cx="320040" cy="5486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74308" y="1688836"/>
            <a:ext cx="548640" cy="5486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2</a:t>
            </a:r>
            <a:endParaRPr sz="2400" b="1"/>
          </a:p>
        </p:txBody>
      </p:sp>
      <p:sp>
        <p:nvSpPr>
          <p:cNvPr id="13" name="TextBox 12"/>
          <p:cNvSpPr txBox="1"/>
          <p:nvPr/>
        </p:nvSpPr>
        <p:spPr>
          <a:xfrm>
            <a:off x="2606039" y="237463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REVIEW</a:t>
            </a:r>
            <a:br/>
            <a:r>
              <a:t>GAPS &amp;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060436"/>
            <a:ext cx="1920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rPr lang="en-US" b="1"/>
              <a:t>GBB + STU + Partners</a:t>
            </a:r>
            <a:br>
              <a:rPr lang="en-US"/>
            </a:br>
            <a:r>
              <a:t> analyze capability</a:t>
            </a:r>
            <a:br>
              <a:rPr/>
            </a:br>
            <a:r>
              <a:t>scores, identify critical gaps,</a:t>
            </a:r>
            <a:br>
              <a:rPr/>
            </a:br>
            <a:r>
              <a:t>and validate priorities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66971" y="2511796"/>
            <a:ext cx="320040" cy="5486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88936" y="1688836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3</a:t>
            </a:r>
            <a:endParaRPr sz="2400" b="1"/>
          </a:p>
        </p:txBody>
      </p:sp>
      <p:sp>
        <p:nvSpPr>
          <p:cNvPr id="18" name="TextBox 17"/>
          <p:cNvSpPr txBox="1"/>
          <p:nvPr/>
        </p:nvSpPr>
        <p:spPr>
          <a:xfrm>
            <a:off x="4937759" y="237463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PRIORITIZE</a:t>
            </a:r>
            <a:br/>
            <a: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3060436"/>
            <a:ext cx="1920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rPr lang="en-US" b="1"/>
              <a:t>GBB + STU + Partners</a:t>
            </a:r>
            <a:br>
              <a:rPr lang="en-US"/>
            </a:br>
            <a:r>
              <a:t>Select Quick Wins (H1) that</a:t>
            </a:r>
            <a:br>
              <a:rPr/>
            </a:br>
            <a:r>
              <a:t>deliver highest impact with</a:t>
            </a:r>
            <a:br>
              <a:rPr/>
            </a:br>
            <a:r>
              <a:t>lowest effort for each pillar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55070" y="2511796"/>
            <a:ext cx="320040" cy="5486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77927" y="1688836"/>
            <a:ext cx="548640" cy="548640"/>
          </a:xfrm>
          <a:prstGeom prst="ellipse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4</a:t>
            </a:r>
            <a:endParaRPr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7269479" y="237463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3B8F"/>
                </a:solidFill>
                <a:latin typeface="Segoe UI"/>
              </a:defRPr>
            </a:pPr>
            <a:r>
              <a:t>BUILD</a:t>
            </a:r>
            <a:br/>
            <a:r>
              <a:t>IMPLEMENTATION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9642" y="3060436"/>
            <a:ext cx="22060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rPr lang="en-US" b="1"/>
              <a:t>GBB+ STU + Partners</a:t>
            </a:r>
            <a:br>
              <a:rPr lang="en-US"/>
            </a:br>
            <a:r>
              <a:t>Create detailed execution plan</a:t>
            </a:r>
            <a:br>
              <a:rPr/>
            </a:br>
            <a:r>
              <a:t>with timeline, budget, resources,</a:t>
            </a:r>
            <a:br>
              <a:rPr/>
            </a:br>
            <a:r>
              <a:t>and partner assignments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0" y="1688836"/>
            <a:ext cx="548640" cy="54864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5</a:t>
            </a:r>
            <a:endParaRPr sz="2400" b="1"/>
          </a:p>
        </p:txBody>
      </p:sp>
      <p:sp>
        <p:nvSpPr>
          <p:cNvPr id="27" name="TextBox 26"/>
          <p:cNvSpPr txBox="1"/>
          <p:nvPr/>
        </p:nvSpPr>
        <p:spPr>
          <a:xfrm>
            <a:off x="9515740" y="237463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13438"/>
                </a:solidFill>
                <a:latin typeface="Segoe UI"/>
              </a:defRPr>
            </a:pPr>
            <a:r>
              <a:t>EXECUTE &amp;</a:t>
            </a:r>
            <a:br>
              <a:rPr/>
            </a:br>
            <a: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7001" y="3060436"/>
            <a:ext cx="20418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Segoe UI"/>
              </a:defRPr>
            </a:pPr>
            <a:r>
              <a:rPr lang="en-US" b="1"/>
              <a:t>CSU + Partners</a:t>
            </a:r>
            <a:br>
              <a:rPr lang="en-US"/>
            </a:br>
            <a:r>
              <a:t>Launch transformation with</a:t>
            </a:r>
            <a:br>
              <a:rPr/>
            </a:br>
            <a:r>
              <a:t>partners, track KPIs monthly,</a:t>
            </a:r>
            <a:br>
              <a:rPr/>
            </a:br>
            <a:r>
              <a:t>adjust roadmap quarterly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81451"/>
            <a:ext cx="11247120" cy="2097861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209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Key Principles for ATU/STU</a:t>
            </a:r>
            <a:r>
              <a:rPr lang="en-US"/>
              <a:t>/CSU</a:t>
            </a:r>
            <a: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699" y="458970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Each Pillar Roadmap is independent — ATU/STU </a:t>
            </a:r>
            <a:r>
              <a:rPr lang="en-US"/>
              <a:t>+ GBB </a:t>
            </a:r>
            <a:r>
              <a:t>can prioritize pillars based on account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3699" y="486402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Quick Wins (H1) should start within 30 days of report delivery — momentum is critical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3699" y="513834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Use capability scores to justify investments — data-driven conversations with customer leadership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3699" y="541266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Review and adjust roadmap quarterly — transformation is iterative, not linear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699" y="568698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Assign a Partner for implementation execution — GBB provides the roadmap, Partner executes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31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B3860C-28C6-FE42-0A9D-2F94F44951DB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A black and yellow logo&#10;&#10;AI-generated content may be incorrect.">
            <a:extLst>
              <a:ext uri="{FF2B5EF4-FFF2-40B4-BE49-F238E27FC236}">
                <a16:creationId xmlns:a16="http://schemas.microsoft.com/office/drawing/2014/main" id="{02538CEC-1443-89B2-6133-59C716BD8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5470488D-23D0-1C63-8BCC-B403C84BC4ED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ooterText">
            <a:extLst>
              <a:ext uri="{FF2B5EF4-FFF2-40B4-BE49-F238E27FC236}">
                <a16:creationId xmlns:a16="http://schemas.microsoft.com/office/drawing/2014/main" id="{6E8E45AA-64E3-A3B0-F406-11E0E51A690C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351FE-5578-EA4D-C386-663638F5798C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17" name="BottomBar1">
              <a:extLst>
                <a:ext uri="{FF2B5EF4-FFF2-40B4-BE49-F238E27FC236}">
                  <a16:creationId xmlns:a16="http://schemas.microsoft.com/office/drawing/2014/main" id="{D1B3833E-A09B-FE80-1357-CCB8CC2B0040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BottomBar2">
              <a:extLst>
                <a:ext uri="{FF2B5EF4-FFF2-40B4-BE49-F238E27FC236}">
                  <a16:creationId xmlns:a16="http://schemas.microsoft.com/office/drawing/2014/main" id="{382769EE-632C-BE69-2D21-A2660E55605F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BottomBar3">
              <a:extLst>
                <a:ext uri="{FF2B5EF4-FFF2-40B4-BE49-F238E27FC236}">
                  <a16:creationId xmlns:a16="http://schemas.microsoft.com/office/drawing/2014/main" id="{2552189E-912C-C790-27B0-B841EE7403F5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BottomBar4">
              <a:extLst>
                <a:ext uri="{FF2B5EF4-FFF2-40B4-BE49-F238E27FC236}">
                  <a16:creationId xmlns:a16="http://schemas.microsoft.com/office/drawing/2014/main" id="{872DA47B-51DE-A703-8977-51DE35F436C2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BottomBar5">
              <a:extLst>
                <a:ext uri="{FF2B5EF4-FFF2-40B4-BE49-F238E27FC236}">
                  <a16:creationId xmlns:a16="http://schemas.microsoft.com/office/drawing/2014/main" id="{82F4D56F-4827-81F9-904A-CD69D6B2C015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76515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Prioritization Framework for ATU/STU</a:t>
            </a:r>
            <a:r>
              <a:rPr lang="en-US"/>
              <a:t>/CSU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6344" y="131006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 b="1"/>
              <a:t>Use the Impact vs Effort matrix to sequence transformation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064" y="2072354"/>
            <a:ext cx="27432" cy="36576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064" y="5702522"/>
            <a:ext cx="9601200" cy="27432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7784" y="198091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404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784" y="536419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4040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784" y="362683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9384" y="582139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4040"/>
                </a:solidFill>
                <a:latin typeface="Segoe UI"/>
              </a:defRPr>
            </a:pPr>
            <a: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4744" y="582139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404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2664" y="582139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3232"/>
                </a:solidFill>
                <a:latin typeface="Segoe UI"/>
              </a:defRPr>
            </a:pPr>
            <a:r>
              <a:t>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7944" y="2072354"/>
            <a:ext cx="4572000" cy="1737360"/>
          </a:xfrm>
          <a:prstGeom prst="roundRect">
            <a:avLst/>
          </a:prstGeom>
          <a:solidFill>
            <a:srgbClr val="DC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2824" y="2072354"/>
            <a:ext cx="4572000" cy="1737360"/>
          </a:xfrm>
          <a:prstGeom prst="round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27944" y="3992594"/>
            <a:ext cx="4572000" cy="164592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2824" y="3992594"/>
            <a:ext cx="4572000" cy="1645920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0824" y="211807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QUICK WINS (Do First)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5704" y="211807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STRATEGIC (Plan Carefully)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0824" y="403831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Segoe UI"/>
              </a:defRPr>
            </a:pPr>
            <a:r>
              <a:t>LOW PRIORITY (Deprioritize)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5704" y="403831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CONSIDER (Evaluate ROI)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3704" y="248383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GHAS deployment (S7)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3704" y="275815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Copilot expansion (S5)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3704" y="303247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DORA metrics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3704" y="330679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Dev Containers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8584" y="248383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GitHub migration (S1)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8584" y="275815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PE team + IDP (S3)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8584" y="303247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AI Foundry + agents (S2)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8584" y="330679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Multi-region 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3704" y="435835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Legacy tool retirement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3704" y="463267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  Documentation overhaul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8584" y="435835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Service mesh (Istio)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8584" y="463267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Multi-agent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8584" y="490699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Segoe UI"/>
              </a:defRPr>
            </a:pPr>
            <a:r>
              <a:t>  Autonomous SRE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32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429688-3E21-BC29-BB06-55B88EC50894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A black and yellow logo&#10;&#10;AI-generated content may be incorrect.">
            <a:extLst>
              <a:ext uri="{FF2B5EF4-FFF2-40B4-BE49-F238E27FC236}">
                <a16:creationId xmlns:a16="http://schemas.microsoft.com/office/drawing/2014/main" id="{5AA5970F-F334-B4A1-8B1B-046008B5E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7ACC2E04-1181-2FFB-D217-785A5ACE7EC8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FooterText">
            <a:extLst>
              <a:ext uri="{FF2B5EF4-FFF2-40B4-BE49-F238E27FC236}">
                <a16:creationId xmlns:a16="http://schemas.microsoft.com/office/drawing/2014/main" id="{387C8C1F-5A2A-1BAC-B684-D7EE9238AA97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2620B3-8F3F-39BA-7B78-097F153C41AD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38" name="BottomBar1">
              <a:extLst>
                <a:ext uri="{FF2B5EF4-FFF2-40B4-BE49-F238E27FC236}">
                  <a16:creationId xmlns:a16="http://schemas.microsoft.com/office/drawing/2014/main" id="{0268EDDE-77CD-ACD5-F5D3-222CC240A5EC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BottomBar2">
              <a:extLst>
                <a:ext uri="{FF2B5EF4-FFF2-40B4-BE49-F238E27FC236}">
                  <a16:creationId xmlns:a16="http://schemas.microsoft.com/office/drawing/2014/main" id="{0A1ADD45-1147-27AE-9EC5-2B0E6EAC2B40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BottomBar3">
              <a:extLst>
                <a:ext uri="{FF2B5EF4-FFF2-40B4-BE49-F238E27FC236}">
                  <a16:creationId xmlns:a16="http://schemas.microsoft.com/office/drawing/2014/main" id="{9224CF09-EC97-13E8-7347-944579D42B1B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BottomBar4">
              <a:extLst>
                <a:ext uri="{FF2B5EF4-FFF2-40B4-BE49-F238E27FC236}">
                  <a16:creationId xmlns:a16="http://schemas.microsoft.com/office/drawing/2014/main" id="{011F7862-881C-6BCA-E1FF-AEA788D22BD4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BottomBar5">
              <a:extLst>
                <a:ext uri="{FF2B5EF4-FFF2-40B4-BE49-F238E27FC236}">
                  <a16:creationId xmlns:a16="http://schemas.microsoft.com/office/drawing/2014/main" id="{41287E4A-8F2D-783B-567C-6DC703FEDB09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30681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4AAE6"/>
                </a:solidFill>
                <a:latin typeface="Segoe UI"/>
              </a:defRPr>
            </a:pPr>
            <a:r>
              <a:t>0</a:t>
            </a:r>
            <a:r>
              <a:rPr lang="en-US"/>
              <a:t>8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Scaling with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1FF"/>
                </a:solidFill>
                <a:latin typeface="Segoe UI"/>
              </a:defRPr>
            </a:pPr>
            <a:r>
              <a:t>Enabling Partners to Execute the Transformation Journey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2536C-0D0F-E80E-6604-D18F8026559E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7" name="Picture 6" descr="logo-msft-github-white.png">
            <a:extLst>
              <a:ext uri="{FF2B5EF4-FFF2-40B4-BE49-F238E27FC236}">
                <a16:creationId xmlns:a16="http://schemas.microsoft.com/office/drawing/2014/main" id="{CFF4DF68-66FF-74CD-90DD-E8A4C309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Scaling Through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79" y="122049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Partners execute the transformation — involved from the beginning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662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666240"/>
            <a:ext cx="2743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119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GBB</a:t>
            </a:r>
            <a:r>
              <a:rPr lang="en-US"/>
              <a:t>/PARTNERS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21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Segoe UI"/>
              </a:defRPr>
            </a:pPr>
            <a:r>
              <a:t>Owns the Framework</a:t>
            </a:r>
            <a:br/>
            <a:r>
              <a:t>&amp;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9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Leads assessment,</a:t>
            </a:r>
            <a:br/>
            <a:r>
              <a:t>creates roadmaps,</a:t>
            </a:r>
            <a:br/>
            <a:r>
              <a:t>defines methodology,</a:t>
            </a:r>
            <a:br/>
            <a:r>
              <a:t>enables partners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662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666240"/>
            <a:ext cx="2743200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7119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lang="en-US"/>
              <a:t>CSU/</a:t>
            </a:r>
            <a:r>
              <a:t>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21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Segoe UI"/>
              </a:defRPr>
            </a:pPr>
            <a:r>
              <a:t>Executes the</a:t>
            </a:r>
            <a:br/>
            <a:r>
              <a:t>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09240"/>
            <a:ext cx="2377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Implements roadmap,</a:t>
            </a:r>
            <a:br>
              <a:rPr/>
            </a:br>
            <a:r>
              <a:t>provides engineering,</a:t>
            </a:r>
            <a:br>
              <a:rPr/>
            </a:br>
            <a:r>
              <a:t>delivers H1/H2/H3,</a:t>
            </a:r>
            <a:br>
              <a:rPr/>
            </a:br>
            <a:r>
              <a:t>drives adoption</a:t>
            </a:r>
            <a:br>
              <a:rPr lang="en-US"/>
            </a:br>
            <a:br>
              <a:rPr lang="en-US"/>
            </a:br>
            <a:r>
              <a:rPr lang="en-US" sz="1050" b="1" i="1"/>
              <a:t>      </a:t>
            </a:r>
            <a:r>
              <a:rPr lang="en-US" sz="900" b="1" i="1"/>
              <a:t>*H = transformation phase</a:t>
            </a:r>
            <a:endParaRPr b="1" i="1"/>
          </a:p>
        </p:txBody>
      </p:sp>
      <p:sp>
        <p:nvSpPr>
          <p:cNvPr id="15" name="Rounded Rectangle 14"/>
          <p:cNvSpPr/>
          <p:nvPr/>
        </p:nvSpPr>
        <p:spPr>
          <a:xfrm>
            <a:off x="6126480" y="16662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666240"/>
            <a:ext cx="2743200" cy="457200"/>
          </a:xfrm>
          <a:prstGeom prst="rect">
            <a:avLst/>
          </a:prstGeom>
          <a:solidFill>
            <a:srgbClr val="6B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4016" y="1711959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ATU/STU</a:t>
            </a:r>
            <a:r>
              <a:rPr lang="en-US"/>
              <a:t>/PARTNER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21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Segoe UI"/>
              </a:defRPr>
            </a:pPr>
            <a:r>
              <a:t>Orchestrates the</a:t>
            </a:r>
            <a:br/>
            <a:r>
              <a:t>Account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09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Owns relationship,</a:t>
            </a:r>
            <a:br/>
            <a:r>
              <a:t>prioritizes pillars,</a:t>
            </a:r>
            <a:br/>
            <a:r>
              <a:t>aligns investment,</a:t>
            </a:r>
            <a:br/>
            <a:r>
              <a:t>tracks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6662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60" y="1666240"/>
            <a:ext cx="2743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0" y="17119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lang="en-US"/>
              <a:t>GBB/</a:t>
            </a:r>
            <a:r>
              <a:t>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21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Segoe UI"/>
              </a:defRPr>
            </a:pPr>
            <a:r>
              <a:t>Sponsors &amp;</a:t>
            </a:r>
            <a:br/>
            <a:r>
              <a:t>Adopts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809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04040"/>
                </a:solidFill>
                <a:latin typeface="Segoe UI"/>
              </a:defRPr>
            </a:pPr>
            <a:r>
              <a:t>Provides sponsorship,</a:t>
            </a:r>
            <a:br/>
            <a:r>
              <a:t>assigns teams,</a:t>
            </a:r>
            <a:br/>
            <a:r>
              <a:t>adopts practices,</a:t>
            </a:r>
            <a:br/>
            <a:r>
              <a:t>measures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26560"/>
            <a:ext cx="11247120" cy="192024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318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Why Partners from Day 1?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8376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Partners participate in assessment sessions to understand the customer's current state firsthand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3979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This ensures seamless transition from assessment to implementation — no context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95823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Partners can begin scoping H1 Quick Wins while the assessment report is being finalized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51856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Multiple partners can work in parallel on different pillars for faster transformation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07888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Segoe UI"/>
              </a:defRPr>
            </a:pPr>
            <a:r>
              <a:t>  GBB provides ongoing advisory support while Partner handles day-to-day 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34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CBE233-C882-3034-FEFA-F6B6DD762C27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A black and yellow logo&#10;&#10;AI-generated content may be incorrect.">
            <a:extLst>
              <a:ext uri="{FF2B5EF4-FFF2-40B4-BE49-F238E27FC236}">
                <a16:creationId xmlns:a16="http://schemas.microsoft.com/office/drawing/2014/main" id="{455E3DE4-E80F-E300-BB73-291CB3800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C8B133BC-3CA2-9F20-D3E0-1E33277CC86F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FooterText">
            <a:extLst>
              <a:ext uri="{FF2B5EF4-FFF2-40B4-BE49-F238E27FC236}">
                <a16:creationId xmlns:a16="http://schemas.microsoft.com/office/drawing/2014/main" id="{49CFFFD3-B064-808D-0AC2-57B588FC1A48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1942D9-9F6D-8B6F-1F44-814A27A024B8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36" name="BottomBar1">
              <a:extLst>
                <a:ext uri="{FF2B5EF4-FFF2-40B4-BE49-F238E27FC236}">
                  <a16:creationId xmlns:a16="http://schemas.microsoft.com/office/drawing/2014/main" id="{C00CD963-81A3-BA30-02C3-0A3ECCDF2810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BottomBar2">
              <a:extLst>
                <a:ext uri="{FF2B5EF4-FFF2-40B4-BE49-F238E27FC236}">
                  <a16:creationId xmlns:a16="http://schemas.microsoft.com/office/drawing/2014/main" id="{7744E58F-4671-254F-8349-963BA90B974A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BottomBar3">
              <a:extLst>
                <a:ext uri="{FF2B5EF4-FFF2-40B4-BE49-F238E27FC236}">
                  <a16:creationId xmlns:a16="http://schemas.microsoft.com/office/drawing/2014/main" id="{41415295-4F0D-D626-CCCF-E5F79C048454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BottomBar4">
              <a:extLst>
                <a:ext uri="{FF2B5EF4-FFF2-40B4-BE49-F238E27FC236}">
                  <a16:creationId xmlns:a16="http://schemas.microsoft.com/office/drawing/2014/main" id="{4C5A74A2-106D-7582-0D7E-656B602F6420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BottomBar5">
              <a:extLst>
                <a:ext uri="{FF2B5EF4-FFF2-40B4-BE49-F238E27FC236}">
                  <a16:creationId xmlns:a16="http://schemas.microsoft.com/office/drawing/2014/main" id="{11BCD34D-EB07-DE55-A43A-AB6009916C9D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75308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8286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8D4"/>
                </a:solidFill>
                <a:latin typeface="Segoe UI"/>
              </a:defRPr>
            </a:pPr>
            <a:r>
              <a:t>Complete Journey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79" y="126306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  <a:latin typeface="Segoe UI"/>
              </a:defRPr>
            </a:pPr>
            <a:r>
              <a:rPr sz="1600"/>
              <a:t>End-to-end flow from engagement to transformation delivery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65960" y="2780801"/>
            <a:ext cx="320040" cy="274320"/>
          </a:xfrm>
          <a:prstGeom prst="rightArrow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866401"/>
            <a:ext cx="1737360" cy="2286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95784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ENGAGE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7025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47A1"/>
                </a:solidFill>
                <a:latin typeface="Segoe UI"/>
              </a:defRPr>
            </a:pPr>
            <a:r>
              <a:rPr lang="en-US" sz="900" b="1">
                <a:solidFill>
                  <a:srgbClr val="0D47A1"/>
                </a:solidFill>
                <a:latin typeface="Segoe UI"/>
              </a:rPr>
              <a:t>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43641"/>
            <a:ext cx="16002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ATU</a:t>
            </a:r>
            <a:r>
              <a:rPr lang="en-US"/>
              <a:t>/STU</a:t>
            </a:r>
            <a:r>
              <a:t> nominates</a:t>
            </a:r>
            <a:br>
              <a:rPr/>
            </a:br>
            <a:r>
              <a:t>account, GBB</a:t>
            </a:r>
            <a:r>
              <a:rPr lang="en-US"/>
              <a:t>/STU</a:t>
            </a:r>
            <a:br>
              <a:rPr/>
            </a:br>
            <a:r>
              <a:t>qualifies</a:t>
            </a:r>
            <a:endParaRPr lang="en-US"/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endParaRPr lang="en-BR"/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lang="en-US"/>
              <a:t>Create opportunity Stage 01 using </a:t>
            </a:r>
            <a:br>
              <a:rPr lang="en-US"/>
            </a:br>
            <a:r>
              <a:rPr lang="en-US"/>
              <a:t>T-Shirt Size</a:t>
            </a:r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931920" y="2780801"/>
            <a:ext cx="32004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40279" y="1866401"/>
            <a:ext cx="1737360" cy="22860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5999" y="195784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ASSESS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2277881"/>
            <a:ext cx="100584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39" y="2287025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976D2"/>
                </a:solidFill>
                <a:latin typeface="Segoe UI"/>
              </a:defRPr>
            </a:pPr>
            <a:r>
              <a:rPr lang="en-US" sz="900" b="1">
                <a:solidFill>
                  <a:srgbClr val="1976D2"/>
                </a:solidFill>
                <a:latin typeface="Segoe UI"/>
              </a:rPr>
              <a:t>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643641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6 sessions,</a:t>
            </a:r>
            <a:br>
              <a:rPr/>
            </a:br>
            <a:r>
              <a:t>12 hours,</a:t>
            </a:r>
            <a:br>
              <a:rPr/>
            </a:br>
            <a:r>
              <a:t>28 capabilities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97879" y="2780801"/>
            <a:ext cx="32004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06240" y="1866401"/>
            <a:ext cx="1737360" cy="22860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59" y="195784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277881"/>
            <a:ext cx="100584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2287025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5E20"/>
                </a:solidFill>
                <a:latin typeface="Segoe UI"/>
              </a:defRPr>
            </a:pPr>
            <a:r>
              <a:rPr lang="en-US" sz="900" b="1">
                <a:solidFill>
                  <a:srgbClr val="1B5E20"/>
                </a:solidFill>
                <a:latin typeface="Segoe UI"/>
              </a:rPr>
              <a:t>1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643641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Scoring,</a:t>
            </a:r>
            <a:br/>
            <a:r>
              <a:t>calibration,</a:t>
            </a:r>
            <a:br/>
            <a:r>
              <a:t>gap analysis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63840" y="2780801"/>
            <a:ext cx="320040" cy="274320"/>
          </a:xfrm>
          <a:prstGeom prst="rightArrow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72199" y="1866401"/>
            <a:ext cx="1737360" cy="228600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19" y="195784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59" y="2277881"/>
            <a:ext cx="100584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59" y="2287025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88E3C"/>
                </a:solidFill>
                <a:latin typeface="Segoe UI"/>
              </a:defRPr>
            </a:pPr>
            <a:r>
              <a:rPr lang="en-US" sz="900" b="1">
                <a:solidFill>
                  <a:srgbClr val="388E3C"/>
                </a:solidFill>
                <a:latin typeface="Segoe UI"/>
              </a:rPr>
              <a:t>2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39" y="2643641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Assessment Report</a:t>
            </a:r>
            <a:br>
              <a:rPr/>
            </a:br>
            <a:r>
              <a:t>+ 3 Roadmaps</a:t>
            </a:r>
            <a:br>
              <a:rPr/>
            </a:br>
            <a:r>
              <a:t>delivered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29800" y="2780801"/>
            <a:ext cx="320040" cy="274320"/>
          </a:xfrm>
          <a:prstGeom prst="rightArrow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38160" y="1866401"/>
            <a:ext cx="1737360" cy="22860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195784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PRIORITIZE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2277881"/>
            <a:ext cx="100584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2287025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5100"/>
                </a:solidFill>
                <a:latin typeface="Segoe UI"/>
              </a:defRPr>
            </a:pPr>
            <a:r>
              <a:rPr lang="en-US" sz="900" b="1">
                <a:solidFill>
                  <a:srgbClr val="E65100"/>
                </a:solidFill>
                <a:latin typeface="Segoe UI"/>
              </a:rPr>
              <a:t>1 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643641"/>
            <a:ext cx="15544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lang="en-US"/>
              <a:t>STU/GBB</a:t>
            </a:r>
            <a:br>
              <a:rPr lang="en-US"/>
            </a:br>
            <a:r>
              <a:t> select</a:t>
            </a:r>
            <a:r>
              <a:rPr lang="en-US"/>
              <a:t> </a:t>
            </a:r>
            <a:r>
              <a:t>H1 Quick Wins</a:t>
            </a:r>
            <a:br>
              <a:rPr/>
            </a:br>
            <a:r>
              <a:t>per pillar</a:t>
            </a:r>
            <a:endParaRPr lang="en-US"/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endParaRPr lang="en-BR"/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lang="en-BR"/>
              <a:t>Update or create new opps and milestones according the implementation plan</a:t>
            </a:r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04120" y="1866401"/>
            <a:ext cx="1737360" cy="22860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49840" y="195784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2277881"/>
            <a:ext cx="100584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69880" y="2287025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7C00"/>
                </a:solidFill>
                <a:latin typeface="Segoe UI"/>
              </a:defRPr>
            </a:pPr>
            <a:r>
              <a:rPr lang="en-US" sz="900" b="1">
                <a:solidFill>
                  <a:srgbClr val="F57C00"/>
                </a:solidFill>
                <a:latin typeface="Segoe UI"/>
              </a:rPr>
              <a:t>6-36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643641"/>
            <a:ext cx="1554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lang="en-US"/>
              <a:t>CSU +</a:t>
            </a:r>
            <a:br>
              <a:rPr lang="en-US"/>
            </a:br>
            <a:r>
              <a:rPr b="1"/>
              <a:t>Partner</a:t>
            </a:r>
            <a:r>
              <a:rPr lang="en-BR" b="1"/>
              <a:t>-</a:t>
            </a:r>
            <a:r>
              <a:rPr lang="en-US" b="1"/>
              <a:t>led</a:t>
            </a:r>
            <a:br>
              <a:rPr/>
            </a:br>
            <a:r>
              <a:t>transformation</a:t>
            </a:r>
            <a:br>
              <a:rPr/>
            </a:br>
            <a:r>
              <a:t>H1 → H2 → H3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311" y="43187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What the Customer Gets: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792481"/>
            <a:ext cx="2194560" cy="12801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83820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Assessment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158241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28 capability scores,</a:t>
            </a:r>
            <a:br/>
            <a:r>
              <a:t>critical gaps, strategic</a:t>
            </a:r>
            <a:br/>
            <a:r>
              <a:t>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39" y="4792481"/>
            <a:ext cx="2194560" cy="12801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79" y="483820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P1 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79" y="5158241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Developer Productivity</a:t>
            </a:r>
            <a:br/>
            <a:r>
              <a:t>transformation plan</a:t>
            </a:r>
            <a:br/>
            <a:r>
              <a:t>with KPIs per horizon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59" y="4792481"/>
            <a:ext cx="2194560" cy="12801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199" y="483820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P2 Roadmap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199" y="5158241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DevOps Lifecycle</a:t>
            </a:r>
            <a:br/>
            <a:r>
              <a:t>transformation plan</a:t>
            </a:r>
            <a:br/>
            <a:r>
              <a:t>with DORA targets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9479" y="4792481"/>
            <a:ext cx="2194560" cy="12801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60919" y="483820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P3 Roadmap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9" y="5158241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Application Platform</a:t>
            </a:r>
            <a:br>
              <a:rPr/>
            </a:br>
            <a:r>
              <a:t>transformation plan</a:t>
            </a:r>
            <a:br>
              <a:rPr/>
            </a:br>
            <a:r>
              <a:t>with </a:t>
            </a:r>
            <a:r>
              <a:rPr lang="en-US"/>
              <a:t>AI and Agents, </a:t>
            </a:r>
            <a:br>
              <a:rPr lang="en-US"/>
            </a:br>
            <a:r>
              <a:t>PE &amp; IDP strategy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0" y="4792481"/>
            <a:ext cx="2194560" cy="1280160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92640" y="483820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Implementation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158241"/>
            <a:ext cx="2011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4040"/>
                </a:solidFill>
                <a:latin typeface="Segoe UI"/>
              </a:defRPr>
            </a:pPr>
            <a:r>
              <a:t>ATU/STU</a:t>
            </a:r>
            <a:r>
              <a:rPr lang="en-US"/>
              <a:t>/CSU</a:t>
            </a:r>
            <a:r>
              <a:t> prioritized</a:t>
            </a:r>
            <a:br>
              <a:rPr/>
            </a:br>
            <a:r>
              <a:t>action plan with</a:t>
            </a:r>
            <a:br>
              <a:rPr/>
            </a:br>
            <a:r>
              <a:t>partner assignments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0600" y="6400800"/>
            <a:ext cx="584200" cy="228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04040"/>
                </a:solidFill>
                <a:latin typeface="Segoe UI"/>
              </a:defRPr>
            </a:pPr>
            <a:r>
              <a:rPr lang="en-BR" sz="900">
                <a:solidFill>
                  <a:srgbClr val="404040"/>
                </a:solidFill>
                <a:latin typeface="Segoe UI"/>
                <a:cs typeface="Segoe UI"/>
              </a:rPr>
              <a:t>35</a:t>
            </a:r>
            <a:endParaRPr sz="900">
              <a:solidFill>
                <a:srgbClr val="404040"/>
              </a:solidFill>
              <a:latin typeface="Segoe UI"/>
              <a:cs typeface="Segoe UI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B2A2E6-06A4-ED22-6C78-7D1298DF458E}"/>
              </a:ext>
            </a:extLst>
          </p:cNvPr>
          <p:cNvSpPr/>
          <p:nvPr/>
        </p:nvSpPr>
        <p:spPr>
          <a:xfrm>
            <a:off x="457200" y="928116"/>
            <a:ext cx="137160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A black and yellow logo&#10;&#10;AI-generated content may be incorrect.">
            <a:extLst>
              <a:ext uri="{FF2B5EF4-FFF2-40B4-BE49-F238E27FC236}">
                <a16:creationId xmlns:a16="http://schemas.microsoft.com/office/drawing/2014/main" id="{107E6582-5228-C752-ACA5-B126ABE75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317" y="274319"/>
            <a:ext cx="769365" cy="347865"/>
          </a:xfrm>
          <a:prstGeom prst="rect">
            <a:avLst/>
          </a:prstGeom>
        </p:spPr>
      </p:pic>
      <p:sp>
        <p:nvSpPr>
          <p:cNvPr id="3" name="FooterDiv">
            <a:extLst>
              <a:ext uri="{FF2B5EF4-FFF2-40B4-BE49-F238E27FC236}">
                <a16:creationId xmlns:a16="http://schemas.microsoft.com/office/drawing/2014/main" id="{27A10F98-FB83-FEB6-2561-F5634F0387E6}"/>
              </a:ext>
            </a:extLst>
          </p:cNvPr>
          <p:cNvSpPr/>
          <p:nvPr/>
        </p:nvSpPr>
        <p:spPr>
          <a:xfrm>
            <a:off x="457200" y="6324600"/>
            <a:ext cx="1127760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Text">
            <a:extLst>
              <a:ext uri="{FF2B5EF4-FFF2-40B4-BE49-F238E27FC236}">
                <a16:creationId xmlns:a16="http://schemas.microsoft.com/office/drawing/2014/main" id="{CBB9392E-00FC-816E-1045-3826041D13D9}"/>
              </a:ext>
            </a:extLst>
          </p:cNvPr>
          <p:cNvSpPr txBox="1"/>
          <p:nvPr/>
        </p:nvSpPr>
        <p:spPr>
          <a:xfrm>
            <a:off x="457200" y="64008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>
                <a:solidFill>
                  <a:srgbClr val="404040"/>
                </a:solidFill>
                <a:latin typeface="Segoe UI"/>
              </a:rPr>
              <a:t>Microsoft Confidential | Americas Software GBB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B6CC1A-E637-B544-87CC-8DF13CD3A361}"/>
              </a:ext>
            </a:extLst>
          </p:cNvPr>
          <p:cNvSpPr/>
          <p:nvPr/>
        </p:nvSpPr>
        <p:spPr>
          <a:xfrm>
            <a:off x="279400" y="1790700"/>
            <a:ext cx="3695700" cy="38100"/>
          </a:xfrm>
          <a:prstGeom prst="rect">
            <a:avLst/>
          </a:prstGeom>
          <a:solidFill>
            <a:srgbClr val="0D47A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5BF2CD7-087C-4046-8720-8ACE30A9A591}"/>
              </a:ext>
            </a:extLst>
          </p:cNvPr>
          <p:cNvSpPr/>
          <p:nvPr/>
        </p:nvSpPr>
        <p:spPr>
          <a:xfrm>
            <a:off x="4203700" y="1790700"/>
            <a:ext cx="3708400" cy="38100"/>
          </a:xfrm>
          <a:prstGeom prst="rect">
            <a:avLst/>
          </a:prstGeom>
          <a:solidFill>
            <a:srgbClr val="1B5E2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A35D2D-EB4F-8547-BEE6-A5BD1B323619}"/>
              </a:ext>
            </a:extLst>
          </p:cNvPr>
          <p:cNvSpPr/>
          <p:nvPr/>
        </p:nvSpPr>
        <p:spPr>
          <a:xfrm>
            <a:off x="8140700" y="1790700"/>
            <a:ext cx="3708400" cy="38100"/>
          </a:xfrm>
          <a:prstGeom prst="rect">
            <a:avLst/>
          </a:prstGeom>
          <a:solidFill>
            <a:srgbClr val="E6510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BR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EA1218F-00D1-AD61-BF18-62AED42AAC35}"/>
              </a:ext>
            </a:extLst>
          </p:cNvPr>
          <p:cNvGrpSpPr/>
          <p:nvPr/>
        </p:nvGrpSpPr>
        <p:grpSpPr>
          <a:xfrm>
            <a:off x="0" y="6764382"/>
            <a:ext cx="12192000" cy="137160"/>
            <a:chOff x="0" y="6680200"/>
            <a:chExt cx="12192000" cy="177800"/>
          </a:xfrm>
        </p:grpSpPr>
        <p:sp>
          <p:nvSpPr>
            <p:cNvPr id="57" name="BottomBar1">
              <a:extLst>
                <a:ext uri="{FF2B5EF4-FFF2-40B4-BE49-F238E27FC236}">
                  <a16:creationId xmlns:a16="http://schemas.microsoft.com/office/drawing/2014/main" id="{F94F6451-7E7F-825D-71D5-64DA0C479B1F}"/>
                </a:ext>
              </a:extLst>
            </p:cNvPr>
            <p:cNvSpPr/>
            <p:nvPr/>
          </p:nvSpPr>
          <p:spPr>
            <a:xfrm>
              <a:off x="0" y="6680200"/>
              <a:ext cx="2438400" cy="177800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BottomBar2">
              <a:extLst>
                <a:ext uri="{FF2B5EF4-FFF2-40B4-BE49-F238E27FC236}">
                  <a16:creationId xmlns:a16="http://schemas.microsoft.com/office/drawing/2014/main" id="{45DE06E8-64F3-46E3-CA0F-EB982BA48BA5}"/>
                </a:ext>
              </a:extLst>
            </p:cNvPr>
            <p:cNvSpPr/>
            <p:nvPr/>
          </p:nvSpPr>
          <p:spPr>
            <a:xfrm>
              <a:off x="2438400" y="6680200"/>
              <a:ext cx="2438400" cy="177800"/>
            </a:xfrm>
            <a:prstGeom prst="rect">
              <a:avLst/>
            </a:prstGeom>
            <a:solidFill>
              <a:srgbClr val="F2502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BottomBar3">
              <a:extLst>
                <a:ext uri="{FF2B5EF4-FFF2-40B4-BE49-F238E27FC236}">
                  <a16:creationId xmlns:a16="http://schemas.microsoft.com/office/drawing/2014/main" id="{DD902209-11DC-A657-5407-B33F2C5E0577}"/>
                </a:ext>
              </a:extLst>
            </p:cNvPr>
            <p:cNvSpPr/>
            <p:nvPr/>
          </p:nvSpPr>
          <p:spPr>
            <a:xfrm>
              <a:off x="4876800" y="6680200"/>
              <a:ext cx="2438400" cy="177800"/>
            </a:xfrm>
            <a:prstGeom prst="rect">
              <a:avLst/>
            </a:prstGeom>
            <a:solidFill>
              <a:srgbClr val="00A4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BottomBar4">
              <a:extLst>
                <a:ext uri="{FF2B5EF4-FFF2-40B4-BE49-F238E27FC236}">
                  <a16:creationId xmlns:a16="http://schemas.microsoft.com/office/drawing/2014/main" id="{4AD2DA12-36E5-77EC-0D10-2C801AC00569}"/>
                </a:ext>
              </a:extLst>
            </p:cNvPr>
            <p:cNvSpPr/>
            <p:nvPr/>
          </p:nvSpPr>
          <p:spPr>
            <a:xfrm>
              <a:off x="7315200" y="6680200"/>
              <a:ext cx="2438400" cy="177800"/>
            </a:xfrm>
            <a:prstGeom prst="rect">
              <a:avLst/>
            </a:prstGeom>
            <a:solidFill>
              <a:srgbClr val="7FBA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BottomBar5">
              <a:extLst>
                <a:ext uri="{FF2B5EF4-FFF2-40B4-BE49-F238E27FC236}">
                  <a16:creationId xmlns:a16="http://schemas.microsoft.com/office/drawing/2014/main" id="{88FE14E8-5AEE-58C6-9B67-DD5D83798607}"/>
                </a:ext>
              </a:extLst>
            </p:cNvPr>
            <p:cNvSpPr/>
            <p:nvPr/>
          </p:nvSpPr>
          <p:spPr>
            <a:xfrm>
              <a:off x="9753600" y="6680200"/>
              <a:ext cx="2438400" cy="177800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30371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248" y="0"/>
            <a:ext cx="1234424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AI Maturity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E1FF"/>
                </a:solidFill>
                <a:latin typeface="Segoe UI"/>
              </a:defRPr>
            </a:pPr>
            <a:r>
              <a:t>Engagement &amp; Execution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380410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1FF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</a:rPr>
              <a:t>Melissa Durbin </a:t>
            </a:r>
            <a:r>
              <a:rPr>
                <a:solidFill>
                  <a:schemeClr val="bg1"/>
                </a:solidFill>
              </a:rPr>
              <a:t>| </a:t>
            </a:r>
            <a:r>
              <a:rPr lang="en-US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meramo@microsoft.com</a:t>
            </a:r>
            <a:endParaRPr lang="en-US">
              <a:solidFill>
                <a:schemeClr val="bg1"/>
              </a:solidFill>
            </a:endParaRPr>
          </a:p>
          <a:p>
            <a:pPr algn="ctr">
              <a:defRPr sz="1600" b="0">
                <a:solidFill>
                  <a:srgbClr val="C8E1FF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</a:rPr>
              <a:t>Paula Silva | </a:t>
            </a:r>
            <a:r>
              <a:rPr lang="en-US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paulasilva@microsoft.com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5830152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C8F0"/>
                </a:solidFill>
                <a:latin typeface="Segoe UI"/>
              </a:defRPr>
            </a:pPr>
            <a:r>
              <a:rPr lang="en-US" b="1"/>
              <a:t>Americas </a:t>
            </a:r>
            <a:r>
              <a:rPr b="1"/>
              <a:t>Software GBB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970AD-39EF-BD49-B87F-EC4C34D897D4}"/>
              </a:ext>
            </a:extLst>
          </p:cNvPr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6C8FF"/>
                </a:solidFill>
                <a:latin typeface="Segoe UI"/>
              </a:defRPr>
            </a:pPr>
            <a:r>
              <a:t>AI MATURITY FRAMEWORK</a:t>
            </a:r>
          </a:p>
        </p:txBody>
      </p:sp>
      <p:pic>
        <p:nvPicPr>
          <p:cNvPr id="10" name="Picture 9" descr="logo-msft-github-white.png">
            <a:extLst>
              <a:ext uri="{FF2B5EF4-FFF2-40B4-BE49-F238E27FC236}">
                <a16:creationId xmlns:a16="http://schemas.microsoft.com/office/drawing/2014/main" id="{D0BDBED9-9A45-88F8-02B0-629FFEE9A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5648" y="361336"/>
            <a:ext cx="127592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387310-B09D-394F-870F-6DCEE9AE0987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FE8FFD9A8DBA4BB06BDD4C402EC39B" ma:contentTypeVersion="20" ma:contentTypeDescription="Create a new document." ma:contentTypeScope="" ma:versionID="bb26b585b9d4e0d2912bbcf903d23c84">
  <xsd:schema xmlns:xsd="http://www.w3.org/2001/XMLSchema" xmlns:xs="http://www.w3.org/2001/XMLSchema" xmlns:p="http://schemas.microsoft.com/office/2006/metadata/properties" xmlns:ns1="http://schemas.microsoft.com/sharepoint/v3" xmlns:ns2="3124c48f-ec6a-4e29-8719-fc3d92b0920f" xmlns:ns3="861f6569-a21d-4499-a058-1a25c1a3a49d" targetNamespace="http://schemas.microsoft.com/office/2006/metadata/properties" ma:root="true" ma:fieldsID="c7ed3a4ac747f65cce94f12548a1053d" ns1:_="" ns2:_="" ns3:_="">
    <xsd:import namespace="http://schemas.microsoft.com/sharepoint/v3"/>
    <xsd:import namespace="3124c48f-ec6a-4e29-8719-fc3d92b0920f"/>
    <xsd:import namespace="861f6569-a21d-4499-a058-1a25c1a3a4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ongDescription" minOccurs="0"/>
                <xsd:element ref="ns2:MediaServiceLocation" minOccurs="0"/>
                <xsd:element ref="ns2:MediaServiceBillingMetadata" minOccurs="0"/>
                <xsd:element ref="ns2:SharedNotShar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4c48f-ec6a-4e29-8719-fc3d92b092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ongDescription" ma:index="24" nillable="true" ma:displayName="Long Description" ma:description="Description of the content" ma:format="Dropdown" ma:internalName="LongDescription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SharedNotShared" ma:index="27" nillable="true" ma:displayName="SharedNotShared" ma:default="Not Shared" ma:format="Dropdown" ma:internalName="SharedNotShared">
      <xsd:simpleType>
        <xsd:union memberTypes="dms:Text">
          <xsd:simpleType>
            <xsd:restriction base="dms:Choice">
              <xsd:enumeration value="Shared"/>
              <xsd:enumeration value="Not Sha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f6569-a21d-4499-a058-1a25c1a3a4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262483b-37e0-41f4-a41f-4e1964e70e97}" ma:internalName="TaxCatchAll" ma:showField="CatchAllData" ma:web="861f6569-a21d-4499-a058-1a25c1a3a4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SharedNotShared xmlns="3124c48f-ec6a-4e29-8719-fc3d92b0920f">Not Shared</SharedNotShared>
    <LongDescription xmlns="3124c48f-ec6a-4e29-8719-fc3d92b0920f" xsi:nil="true"/>
    <_ip_UnifiedCompliancePolicyProperties xmlns="http://schemas.microsoft.com/sharepoint/v3" xsi:nil="true"/>
    <TaxCatchAll xmlns="861f6569-a21d-4499-a058-1a25c1a3a49d" xsi:nil="true"/>
    <lcf76f155ced4ddcb4097134ff3c332f xmlns="3124c48f-ec6a-4e29-8719-fc3d92b0920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699C44A-0AB3-4CAE-94F6-B0FCC17056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D0AC27-398E-44F5-80DB-6439AD82F274}">
  <ds:schemaRefs>
    <ds:schemaRef ds:uri="3124c48f-ec6a-4e29-8719-fc3d92b0920f"/>
    <ds:schemaRef ds:uri="861f6569-a21d-4499-a058-1a25c1a3a4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62A448-F239-41B6-9164-0B8A98D23B00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3124c48f-ec6a-4e29-8719-fc3d92b0920f"/>
    <ds:schemaRef ds:uri="http://purl.org/dc/dcmitype/"/>
    <ds:schemaRef ds:uri="861f6569-a21d-4499-a058-1a25c1a3a49d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5157</Words>
  <Application>Microsoft Macintosh PowerPoint</Application>
  <PresentationFormat>Widescreen</PresentationFormat>
  <Paragraphs>1076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Calibri</vt:lpstr>
      <vt:lpstr>Segoe UI</vt:lpstr>
      <vt:lpstr>Segoe UI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paulasilva@microsoft.com</dc:creator>
  <cp:keywords/>
  <dc:description/>
  <cp:lastModifiedBy>Paula Silva</cp:lastModifiedBy>
  <cp:revision>1</cp:revision>
  <dcterms:created xsi:type="dcterms:W3CDTF">2013-01-27T09:14:16Z</dcterms:created>
  <dcterms:modified xsi:type="dcterms:W3CDTF">2026-02-24T17:49:10Z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0x010100EFFE8FFD9A8DBA4BB06BDD4C402EC39B</vt:lpwstr>
  </property>
  <property fmtid="{D5CDD505-2E9C-101B-9397-08002B2CF9AE}" pid="3" name="MediaServiceImageTags">
    <vt:lpwstr/>
  </property>
</Properties>
</file>